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4630400" cy="8229600"/>
  <p:notesSz cx="8229600" cy="14630400"/>
  <p:embeddedFontLst>
    <p:embeddedFont>
      <p:font typeface="Crimson Pro Semi Bold" panose="020B0604020202020204" charset="0"/>
      <p:regular r:id="rId19"/>
    </p:embeddedFont>
    <p:embeddedFont>
      <p:font typeface="Heebo" pitchFamily="2" charset="-79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47" autoAdjust="0"/>
  </p:normalViewPr>
  <p:slideViewPr>
    <p:cSldViewPr snapToGrid="0" snapToObjects="1">
      <p:cViewPr varScale="1">
        <p:scale>
          <a:sx n="86" d="100"/>
          <a:sy n="86" d="100"/>
        </p:scale>
        <p:origin x="85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ril Obeng Darko" userId="effc13ac754df4a2" providerId="LiveId" clId="{93402691-E40A-4722-9DE4-6B0C42A2BD17}"/>
    <pc:docChg chg="undo custSel modSld">
      <pc:chgData name="Cyril Obeng Darko" userId="effc13ac754df4a2" providerId="LiveId" clId="{93402691-E40A-4722-9DE4-6B0C42A2BD17}" dt="2026-03-17T16:30:47.802" v="74" actId="2085"/>
      <pc:docMkLst>
        <pc:docMk/>
      </pc:docMkLst>
      <pc:sldChg chg="addSp modSp mod">
        <pc:chgData name="Cyril Obeng Darko" userId="effc13ac754df4a2" providerId="LiveId" clId="{93402691-E40A-4722-9DE4-6B0C42A2BD17}" dt="2026-03-17T16:21:59.792" v="7" actId="2085"/>
        <pc:sldMkLst>
          <pc:docMk/>
          <pc:sldMk cId="0" sldId="257"/>
        </pc:sldMkLst>
        <pc:spChg chg="mod">
          <ac:chgData name="Cyril Obeng Darko" userId="effc13ac754df4a2" providerId="LiveId" clId="{93402691-E40A-4722-9DE4-6B0C42A2BD17}" dt="2026-03-17T16:15:40.868" v="0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Cyril Obeng Darko" userId="effc13ac754df4a2" providerId="LiveId" clId="{93402691-E40A-4722-9DE4-6B0C42A2BD17}" dt="2026-03-17T16:15:49.926" v="1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Cyril Obeng Darko" userId="effc13ac754df4a2" providerId="LiveId" clId="{93402691-E40A-4722-9DE4-6B0C42A2BD17}" dt="2026-03-17T16:16:00.066" v="2" actId="27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Cyril Obeng Darko" userId="effc13ac754df4a2" providerId="LiveId" clId="{93402691-E40A-4722-9DE4-6B0C42A2BD17}" dt="2026-03-17T16:16:13.501" v="3" actId="271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Cyril Obeng Darko" userId="effc13ac754df4a2" providerId="LiveId" clId="{93402691-E40A-4722-9DE4-6B0C42A2BD17}" dt="2026-03-17T16:16:26.050" v="4" actId="2711"/>
          <ac:spMkLst>
            <pc:docMk/>
            <pc:sldMk cId="0" sldId="257"/>
            <ac:spMk id="19" creationId="{00000000-0000-0000-0000-000000000000}"/>
          </ac:spMkLst>
        </pc:spChg>
        <pc:spChg chg="add mod">
          <ac:chgData name="Cyril Obeng Darko" userId="effc13ac754df4a2" providerId="LiveId" clId="{93402691-E40A-4722-9DE4-6B0C42A2BD17}" dt="2026-03-17T16:21:59.792" v="7" actId="2085"/>
          <ac:spMkLst>
            <pc:docMk/>
            <pc:sldMk cId="0" sldId="257"/>
            <ac:spMk id="23" creationId="{B79AB8DE-CF72-32CF-3F2C-144393C9A01C}"/>
          </ac:spMkLst>
        </pc:spChg>
      </pc:sldChg>
      <pc:sldChg chg="addSp delSp modSp mod">
        <pc:chgData name="Cyril Obeng Darko" userId="effc13ac754df4a2" providerId="LiveId" clId="{93402691-E40A-4722-9DE4-6B0C42A2BD17}" dt="2026-03-17T16:22:48.611" v="14" actId="2085"/>
        <pc:sldMkLst>
          <pc:docMk/>
          <pc:sldMk cId="0" sldId="259"/>
        </pc:sldMkLst>
        <pc:spChg chg="add del mod">
          <ac:chgData name="Cyril Obeng Darko" userId="effc13ac754df4a2" providerId="LiveId" clId="{93402691-E40A-4722-9DE4-6B0C42A2BD17}" dt="2026-03-17T16:22:27.278" v="11" actId="11529"/>
          <ac:spMkLst>
            <pc:docMk/>
            <pc:sldMk cId="0" sldId="259"/>
            <ac:spMk id="20" creationId="{08E578B6-CA6A-4B8F-B067-BA1D47C3B5F9}"/>
          </ac:spMkLst>
        </pc:spChg>
        <pc:spChg chg="add mod">
          <ac:chgData name="Cyril Obeng Darko" userId="effc13ac754df4a2" providerId="LiveId" clId="{93402691-E40A-4722-9DE4-6B0C42A2BD17}" dt="2026-03-17T16:22:48.611" v="14" actId="2085"/>
          <ac:spMkLst>
            <pc:docMk/>
            <pc:sldMk cId="0" sldId="259"/>
            <ac:spMk id="21" creationId="{6858A139-C7BB-2A61-6286-D6AE874D36D8}"/>
          </ac:spMkLst>
        </pc:spChg>
      </pc:sldChg>
      <pc:sldChg chg="addSp modSp mod">
        <pc:chgData name="Cyril Obeng Darko" userId="effc13ac754df4a2" providerId="LiveId" clId="{93402691-E40A-4722-9DE4-6B0C42A2BD17}" dt="2026-03-17T16:23:13.341" v="19" actId="2085"/>
        <pc:sldMkLst>
          <pc:docMk/>
          <pc:sldMk cId="0" sldId="260"/>
        </pc:sldMkLst>
        <pc:spChg chg="add mod">
          <ac:chgData name="Cyril Obeng Darko" userId="effc13ac754df4a2" providerId="LiveId" clId="{93402691-E40A-4722-9DE4-6B0C42A2BD17}" dt="2026-03-17T16:23:13.341" v="19" actId="2085"/>
          <ac:spMkLst>
            <pc:docMk/>
            <pc:sldMk cId="0" sldId="260"/>
            <ac:spMk id="18" creationId="{DE229B34-B8F5-3803-961E-6B2CFC93BFC3}"/>
          </ac:spMkLst>
        </pc:spChg>
      </pc:sldChg>
      <pc:sldChg chg="addSp modSp mod">
        <pc:chgData name="Cyril Obeng Darko" userId="effc13ac754df4a2" providerId="LiveId" clId="{93402691-E40A-4722-9DE4-6B0C42A2BD17}" dt="2026-03-17T16:23:48.507" v="25" actId="2085"/>
        <pc:sldMkLst>
          <pc:docMk/>
          <pc:sldMk cId="0" sldId="261"/>
        </pc:sldMkLst>
        <pc:spChg chg="add mod">
          <ac:chgData name="Cyril Obeng Darko" userId="effc13ac754df4a2" providerId="LiveId" clId="{93402691-E40A-4722-9DE4-6B0C42A2BD17}" dt="2026-03-17T16:23:48.507" v="25" actId="2085"/>
          <ac:spMkLst>
            <pc:docMk/>
            <pc:sldMk cId="0" sldId="261"/>
            <ac:spMk id="6" creationId="{4EE5DD20-9E24-B7E9-D812-A0737797569B}"/>
          </ac:spMkLst>
        </pc:spChg>
      </pc:sldChg>
      <pc:sldChg chg="addSp modSp mod">
        <pc:chgData name="Cyril Obeng Darko" userId="effc13ac754df4a2" providerId="LiveId" clId="{93402691-E40A-4722-9DE4-6B0C42A2BD17}" dt="2026-03-17T16:24:38.715" v="30" actId="2085"/>
        <pc:sldMkLst>
          <pc:docMk/>
          <pc:sldMk cId="0" sldId="262"/>
        </pc:sldMkLst>
        <pc:spChg chg="add mod">
          <ac:chgData name="Cyril Obeng Darko" userId="effc13ac754df4a2" providerId="LiveId" clId="{93402691-E40A-4722-9DE4-6B0C42A2BD17}" dt="2026-03-17T16:24:38.715" v="30" actId="2085"/>
          <ac:spMkLst>
            <pc:docMk/>
            <pc:sldMk cId="0" sldId="262"/>
            <ac:spMk id="9" creationId="{ECEFCCCF-A0E9-671B-61FD-928E0D2DBD25}"/>
          </ac:spMkLst>
        </pc:spChg>
      </pc:sldChg>
      <pc:sldChg chg="addSp modSp mod">
        <pc:chgData name="Cyril Obeng Darko" userId="effc13ac754df4a2" providerId="LiveId" clId="{93402691-E40A-4722-9DE4-6B0C42A2BD17}" dt="2026-03-17T16:25:14.060" v="36" actId="2085"/>
        <pc:sldMkLst>
          <pc:docMk/>
          <pc:sldMk cId="0" sldId="263"/>
        </pc:sldMkLst>
        <pc:spChg chg="add mod">
          <ac:chgData name="Cyril Obeng Darko" userId="effc13ac754df4a2" providerId="LiveId" clId="{93402691-E40A-4722-9DE4-6B0C42A2BD17}" dt="2026-03-17T16:25:14.060" v="36" actId="2085"/>
          <ac:spMkLst>
            <pc:docMk/>
            <pc:sldMk cId="0" sldId="263"/>
            <ac:spMk id="16" creationId="{102E0BB3-8273-E755-C07E-280E090199CC}"/>
          </ac:spMkLst>
        </pc:spChg>
      </pc:sldChg>
      <pc:sldChg chg="addSp modSp mod">
        <pc:chgData name="Cyril Obeng Darko" userId="effc13ac754df4a2" providerId="LiveId" clId="{93402691-E40A-4722-9DE4-6B0C42A2BD17}" dt="2026-03-17T16:25:57.897" v="43" actId="207"/>
        <pc:sldMkLst>
          <pc:docMk/>
          <pc:sldMk cId="0" sldId="264"/>
        </pc:sldMkLst>
        <pc:spChg chg="add mod">
          <ac:chgData name="Cyril Obeng Darko" userId="effc13ac754df4a2" providerId="LiveId" clId="{93402691-E40A-4722-9DE4-6B0C42A2BD17}" dt="2026-03-17T16:25:57.897" v="43" actId="207"/>
          <ac:spMkLst>
            <pc:docMk/>
            <pc:sldMk cId="0" sldId="264"/>
            <ac:spMk id="7" creationId="{F3F7623C-2A90-5EB0-8AE3-3958B2487D53}"/>
          </ac:spMkLst>
        </pc:spChg>
      </pc:sldChg>
      <pc:sldChg chg="addSp modSp mod">
        <pc:chgData name="Cyril Obeng Darko" userId="effc13ac754df4a2" providerId="LiveId" clId="{93402691-E40A-4722-9DE4-6B0C42A2BD17}" dt="2026-03-17T16:26:24.839" v="46" actId="2085"/>
        <pc:sldMkLst>
          <pc:docMk/>
          <pc:sldMk cId="0" sldId="265"/>
        </pc:sldMkLst>
        <pc:spChg chg="add mod">
          <ac:chgData name="Cyril Obeng Darko" userId="effc13ac754df4a2" providerId="LiveId" clId="{93402691-E40A-4722-9DE4-6B0C42A2BD17}" dt="2026-03-17T16:26:24.839" v="46" actId="2085"/>
          <ac:spMkLst>
            <pc:docMk/>
            <pc:sldMk cId="0" sldId="265"/>
            <ac:spMk id="17" creationId="{5E12F97E-8FE6-D60A-D073-FA54281F9795}"/>
          </ac:spMkLst>
        </pc:spChg>
      </pc:sldChg>
      <pc:sldChg chg="addSp modSp mod">
        <pc:chgData name="Cyril Obeng Darko" userId="effc13ac754df4a2" providerId="LiveId" clId="{93402691-E40A-4722-9DE4-6B0C42A2BD17}" dt="2026-03-17T16:26:55.690" v="51" actId="2085"/>
        <pc:sldMkLst>
          <pc:docMk/>
          <pc:sldMk cId="0" sldId="266"/>
        </pc:sldMkLst>
        <pc:spChg chg="add mod">
          <ac:chgData name="Cyril Obeng Darko" userId="effc13ac754df4a2" providerId="LiveId" clId="{93402691-E40A-4722-9DE4-6B0C42A2BD17}" dt="2026-03-17T16:26:55.690" v="51" actId="2085"/>
          <ac:spMkLst>
            <pc:docMk/>
            <pc:sldMk cId="0" sldId="266"/>
            <ac:spMk id="25" creationId="{9F223502-E0C3-6627-7F0D-2D83C112D82F}"/>
          </ac:spMkLst>
        </pc:spChg>
      </pc:sldChg>
      <pc:sldChg chg="addSp modSp mod">
        <pc:chgData name="Cyril Obeng Darko" userId="effc13ac754df4a2" providerId="LiveId" clId="{93402691-E40A-4722-9DE4-6B0C42A2BD17}" dt="2026-03-17T16:27:52.267" v="58" actId="14100"/>
        <pc:sldMkLst>
          <pc:docMk/>
          <pc:sldMk cId="0" sldId="267"/>
        </pc:sldMkLst>
        <pc:spChg chg="add mod">
          <ac:chgData name="Cyril Obeng Darko" userId="effc13ac754df4a2" providerId="LiveId" clId="{93402691-E40A-4722-9DE4-6B0C42A2BD17}" dt="2026-03-17T16:27:52.267" v="58" actId="14100"/>
          <ac:spMkLst>
            <pc:docMk/>
            <pc:sldMk cId="0" sldId="267"/>
            <ac:spMk id="17" creationId="{EC733D24-BE01-ABEF-C926-DDD2926C27CE}"/>
          </ac:spMkLst>
        </pc:spChg>
      </pc:sldChg>
      <pc:sldChg chg="addSp modSp mod">
        <pc:chgData name="Cyril Obeng Darko" userId="effc13ac754df4a2" providerId="LiveId" clId="{93402691-E40A-4722-9DE4-6B0C42A2BD17}" dt="2026-03-17T16:28:33.487" v="63" actId="2085"/>
        <pc:sldMkLst>
          <pc:docMk/>
          <pc:sldMk cId="0" sldId="268"/>
        </pc:sldMkLst>
        <pc:spChg chg="add mod">
          <ac:chgData name="Cyril Obeng Darko" userId="effc13ac754df4a2" providerId="LiveId" clId="{93402691-E40A-4722-9DE4-6B0C42A2BD17}" dt="2026-03-17T16:28:33.487" v="63" actId="2085"/>
          <ac:spMkLst>
            <pc:docMk/>
            <pc:sldMk cId="0" sldId="268"/>
            <ac:spMk id="2" creationId="{8C8500AA-911B-2D91-8139-D1EE18DB1D03}"/>
          </ac:spMkLst>
        </pc:spChg>
      </pc:sldChg>
      <pc:sldChg chg="addSp modSp mod">
        <pc:chgData name="Cyril Obeng Darko" userId="effc13ac754df4a2" providerId="LiveId" clId="{93402691-E40A-4722-9DE4-6B0C42A2BD17}" dt="2026-03-17T16:29:33.231" v="66" actId="2085"/>
        <pc:sldMkLst>
          <pc:docMk/>
          <pc:sldMk cId="0" sldId="269"/>
        </pc:sldMkLst>
        <pc:spChg chg="add mod">
          <ac:chgData name="Cyril Obeng Darko" userId="effc13ac754df4a2" providerId="LiveId" clId="{93402691-E40A-4722-9DE4-6B0C42A2BD17}" dt="2026-03-17T16:29:33.231" v="66" actId="2085"/>
          <ac:spMkLst>
            <pc:docMk/>
            <pc:sldMk cId="0" sldId="269"/>
            <ac:spMk id="20" creationId="{E58F8FD1-90BA-971E-7CB6-F9578E13F0D0}"/>
          </ac:spMkLst>
        </pc:spChg>
      </pc:sldChg>
      <pc:sldChg chg="addSp modSp mod">
        <pc:chgData name="Cyril Obeng Darko" userId="effc13ac754df4a2" providerId="LiveId" clId="{93402691-E40A-4722-9DE4-6B0C42A2BD17}" dt="2026-03-17T16:30:09.621" v="70" actId="2085"/>
        <pc:sldMkLst>
          <pc:docMk/>
          <pc:sldMk cId="0" sldId="270"/>
        </pc:sldMkLst>
        <pc:spChg chg="add mod">
          <ac:chgData name="Cyril Obeng Darko" userId="effc13ac754df4a2" providerId="LiveId" clId="{93402691-E40A-4722-9DE4-6B0C42A2BD17}" dt="2026-03-17T16:30:09.621" v="70" actId="2085"/>
          <ac:spMkLst>
            <pc:docMk/>
            <pc:sldMk cId="0" sldId="270"/>
            <ac:spMk id="20" creationId="{7F180E6B-8450-F004-2DAA-616BD3132186}"/>
          </ac:spMkLst>
        </pc:spChg>
      </pc:sldChg>
      <pc:sldChg chg="addSp modSp mod">
        <pc:chgData name="Cyril Obeng Darko" userId="effc13ac754df4a2" providerId="LiveId" clId="{93402691-E40A-4722-9DE4-6B0C42A2BD17}" dt="2026-03-17T16:30:47.802" v="74" actId="2085"/>
        <pc:sldMkLst>
          <pc:docMk/>
          <pc:sldMk cId="0" sldId="271"/>
        </pc:sldMkLst>
        <pc:spChg chg="add mod">
          <ac:chgData name="Cyril Obeng Darko" userId="effc13ac754df4a2" providerId="LiveId" clId="{93402691-E40A-4722-9DE4-6B0C42A2BD17}" dt="2026-03-17T16:30:47.802" v="74" actId="2085"/>
          <ac:spMkLst>
            <pc:docMk/>
            <pc:sldMk cId="0" sldId="271"/>
            <ac:spMk id="2" creationId="{5EAD2219-59F6-1609-32EC-3C522BF2C9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224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61957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Quantium Retail Analytics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Customer Segmentation &amp; Purchasing Behavior Analysis — Chips Category</a:t>
            </a:r>
            <a:endParaRPr lang="en-US" sz="17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Agenda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anose="020B060402020202020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750" dirty="0">
              <a:latin typeface="Crimson Pro Semi Bold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4196358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93790" y="3196352"/>
            <a:ext cx="36240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Scope &amp; Data Overview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Problem statement, objectives, and methodology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16962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anose="020B060402020202020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750" dirty="0">
              <a:latin typeface="Crimson Pro Semi Bold" panose="020B06040202020202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6962" y="3022044"/>
            <a:ext cx="4196358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216962" y="3196352"/>
            <a:ext cx="30797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Sales &amp; Store Performance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Financial trends, MoM changes, and top-performing stores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40133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anose="020B060402020202020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750" dirty="0">
              <a:latin typeface="Crimson Pro Semi Bold" panose="020B06040202020202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3022044"/>
            <a:ext cx="4196358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640133" y="3196352"/>
            <a:ext cx="343090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Product &amp; Customer Analysis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Top products, transaction behavior, and purchasing patterns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anose="020B060402020202020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750" dirty="0">
              <a:latin typeface="Crimson Pro Semi Bold" panose="020B06040202020202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RFM Segmentation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Customer segments, revenue contribution, and behavioral insights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anose="020B060402020202020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750" dirty="0">
              <a:latin typeface="Crimson Pro Semi Bold" panose="020B06040202020202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164455"/>
            <a:ext cx="6407944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582918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Data-driven strategies to drive category growth and revenue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9AB8DE-CF72-32CF-3F2C-144393C9A01C}"/>
              </a:ext>
            </a:extLst>
          </p:cNvPr>
          <p:cNvSpPr/>
          <p:nvPr/>
        </p:nvSpPr>
        <p:spPr>
          <a:xfrm>
            <a:off x="12846205" y="7761249"/>
            <a:ext cx="1661532" cy="362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975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948696"/>
            <a:ext cx="3664744" cy="3121462"/>
          </a:xfrm>
          <a:prstGeom prst="roundRect">
            <a:avLst>
              <a:gd name="adj" fmla="val 109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020604" y="2175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2665928"/>
            <a:ext cx="3211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Category management needs a deeper understanding of customer segments purchasing chips and their associated buying behaviors to drive strategic decisions.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85348" y="1948696"/>
            <a:ext cx="3664863" cy="3121462"/>
          </a:xfrm>
          <a:prstGeom prst="roundRect">
            <a:avLst>
              <a:gd name="adj" fmla="val 109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912162" y="2175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Value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2665928"/>
            <a:ext cx="321123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Enables more effective pricing strategies through price sensitivity analysis, and powers targeted promotions focused on high-value, high-frequency customers.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296972"/>
            <a:ext cx="7556421" cy="2032754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020604" y="5523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014204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Python and SQL were used to analyze transaction and customer data, identify behavioral segments, visualize insights with Matplotlib, and generate actionable recommendations.</a:t>
            </a:r>
            <a:endParaRPr lang="en-US" sz="17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9393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Overall Financial Trend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18" y="2061215"/>
            <a:ext cx="8192023" cy="441401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30834" y="1647230"/>
            <a:ext cx="4313277" cy="1154192"/>
          </a:xfrm>
          <a:prstGeom prst="roundRect">
            <a:avLst>
              <a:gd name="adj" fmla="val 95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9507974" y="1647230"/>
            <a:ext cx="91440" cy="1154192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9780984" y="182880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Stable Baseline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80984" y="2187893"/>
            <a:ext cx="388155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Sales averaged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~$150K/month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, peaking at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$156,461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— a solid, consistent floor with seasonal upside</a:t>
            </a: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530834" y="2912507"/>
            <a:ext cx="4313277" cy="1370171"/>
          </a:xfrm>
          <a:prstGeom prst="roundRect">
            <a:avLst>
              <a:gd name="adj" fmla="val 800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9507974" y="2912507"/>
            <a:ext cx="91440" cy="1370171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9780984" y="3094077"/>
            <a:ext cx="238910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February Dip → March Surge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780984" y="3453170"/>
            <a:ext cx="388155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–7.33% MoM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dip in February reversed sharply to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+10.89% MoM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in March, pointing to an effective promotional initiative.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565123" y="4378215"/>
            <a:ext cx="4313277" cy="1370171"/>
          </a:xfrm>
          <a:prstGeom prst="roundRect">
            <a:avLst>
              <a:gd name="adj" fmla="val 800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9507974" y="4393763"/>
            <a:ext cx="91440" cy="1370171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9780984" y="457533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Seasonal Peak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780984" y="4934426"/>
            <a:ext cx="388155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December sales spiked, driven by the Christmas festive season — customers shopping well above their typical cadence.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507974" y="5875020"/>
            <a:ext cx="4313277" cy="1370171"/>
          </a:xfrm>
          <a:prstGeom prst="roundRect">
            <a:avLst>
              <a:gd name="adj" fmla="val 800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9507974" y="5875020"/>
            <a:ext cx="91440" cy="1370171"/>
          </a:xfrm>
          <a:prstGeom prst="roundRect">
            <a:avLst>
              <a:gd name="adj" fmla="val 26046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9780984" y="605659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Volatility Signal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780984" y="6415683"/>
            <a:ext cx="388155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Overall trend is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short-term driven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— promotions and seasonality dominate rather than structural organic growth.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58A139-C7BB-2A61-6286-D6AE874D36D8}"/>
              </a:ext>
            </a:extLst>
          </p:cNvPr>
          <p:cNvSpPr/>
          <p:nvPr/>
        </p:nvSpPr>
        <p:spPr>
          <a:xfrm>
            <a:off x="12846205" y="7783551"/>
            <a:ext cx="1650380" cy="3456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0530"/>
            <a:ext cx="96264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Customer Purchasing Behavior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56284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$7.32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793790" y="3688080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Avg. Sales per Transaction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32828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Consistent baseline spend across the customer base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25278" y="2656284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1.91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125278" y="3688080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Avg. Units per Transaction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532828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Approximately 2 packs per visit on average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56884" y="2656284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19.6K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6880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One-Time Customers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17849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Avg. spend of </a:t>
            </a:r>
            <a:r>
              <a:rPr lang="en-US" sz="175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$6.45</a:t>
            </a: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per transaction — low engagement, high churn risk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788491" y="2656284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51.7K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6880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Repeat Customers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17849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Avg. spend of </a:t>
            </a:r>
            <a:r>
              <a:rPr lang="en-US" sz="175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$32.46</a:t>
            </a: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— </a:t>
            </a:r>
            <a:r>
              <a:rPr lang="en-US" sz="175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5× higher</a:t>
            </a: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than one-time buyers, underscoring retention value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3790" y="5522357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B3C3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851208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580584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Repeat customers represent the highest-value cohort. Strategies that convert one-time buyers into repeat purchasers will have an outsized impact on category revenue</a:t>
            </a:r>
            <a:r>
              <a:rPr lang="en-US" sz="1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229B34-B8F5-3803-961E-6B2CFC93BFC3}"/>
              </a:ext>
            </a:extLst>
          </p:cNvPr>
          <p:cNvSpPr/>
          <p:nvPr/>
        </p:nvSpPr>
        <p:spPr>
          <a:xfrm>
            <a:off x="12901961" y="7750098"/>
            <a:ext cx="1628078" cy="401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191" y="834152"/>
            <a:ext cx="8977074" cy="68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Product Analysis — Top 5 by Total Sales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40" y="2721531"/>
            <a:ext cx="7243763" cy="37910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5014" y="2051090"/>
            <a:ext cx="2743795" cy="34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Takeaways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635014" y="2606516"/>
            <a:ext cx="4234696" cy="4714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Kettle Mozzarella Basil &amp; Pesto 175g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leads all products with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$34.5K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in total sales — the clear category favorite.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Kettle brand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dominates, contributing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64%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of total sales across the top 5 products.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Cobs Popped Sea Salt Chips 110g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rounds out the top 5 at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$23.9K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, showing strong performance in the lighter snack segment.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Increasing shelf space and promotional support for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Kettle brand SKUs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represents a clear revenue lever.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E5DD20-9E24-B7E9-D812-A0737797569B}"/>
              </a:ext>
            </a:extLst>
          </p:cNvPr>
          <p:cNvSpPr/>
          <p:nvPr/>
        </p:nvSpPr>
        <p:spPr>
          <a:xfrm>
            <a:off x="12801600" y="7694341"/>
            <a:ext cx="1739590" cy="423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812244"/>
            <a:ext cx="8290203" cy="614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Top Performing Stores — Sales Overview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50" y="2093470"/>
            <a:ext cx="7331693" cy="39990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07047" y="1930052"/>
            <a:ext cx="2458403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Performance Summary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055061" y="2330887"/>
            <a:ext cx="4817982" cy="335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Store 226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is the standout leader at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$16.5K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— a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$1K gap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above the next four stores, all clustered between $14.4K–$15.4K.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Stores 88 and 165 are nearly tied (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$200 apart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), and stores 237 and 40 are separated by just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$400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— indicating stable, predictable mid-tier performance.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narrow performance band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means incremental improvements to mid-tier stores could generate meaningful revenue uplift at low investment.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407047" y="5872996"/>
            <a:ext cx="4465996" cy="1352431"/>
          </a:xfrm>
          <a:prstGeom prst="roundRect">
            <a:avLst>
              <a:gd name="adj" fmla="val 2181"/>
            </a:avLst>
          </a:prstGeom>
          <a:solidFill>
            <a:srgbClr val="B3C3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5261" y="6152317"/>
            <a:ext cx="256828" cy="196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83617" y="6092547"/>
            <a:ext cx="3592856" cy="881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Benchmark mid-performing stores against Store 226's merchandising and placement practices to close the gap.</a:t>
            </a:r>
            <a:endParaRPr lang="en-US" sz="15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EFCCCF-A0E9-671B-61FD-928E0D2DBD25}"/>
              </a:ext>
            </a:extLst>
          </p:cNvPr>
          <p:cNvSpPr/>
          <p:nvPr/>
        </p:nvSpPr>
        <p:spPr>
          <a:xfrm>
            <a:off x="12812751" y="7716643"/>
            <a:ext cx="1817649" cy="434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8908"/>
            <a:ext cx="4493062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RFM Analysis Framework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698" y="1981080"/>
            <a:ext cx="5879783" cy="34782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64329" y="1655326"/>
            <a:ext cx="5879783" cy="1255276"/>
          </a:xfrm>
          <a:prstGeom prst="roundRect">
            <a:avLst>
              <a:gd name="adj" fmla="val 203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8299529" y="1834396"/>
            <a:ext cx="291096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Recency (R)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299529" y="2241471"/>
            <a:ext cx="535170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How recently did a customer last purchase? Higher recency signals active engagement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964329" y="3038118"/>
            <a:ext cx="5879783" cy="1255276"/>
          </a:xfrm>
          <a:prstGeom prst="roundRect">
            <a:avLst>
              <a:gd name="adj" fmla="val 203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299528" y="3198317"/>
            <a:ext cx="291096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Frequency (F)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99529" y="3624263"/>
            <a:ext cx="535170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How often does a customer purchase? Frequency distinguishes loyal shoppers from occasional ones.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64329" y="4420910"/>
            <a:ext cx="5879783" cy="1255276"/>
          </a:xfrm>
          <a:prstGeom prst="roundRect">
            <a:avLst>
              <a:gd name="adj" fmla="val 203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299527" y="4595652"/>
            <a:ext cx="291096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Monetary (M)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299529" y="5007054"/>
            <a:ext cx="535170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What is the total value of purchases? Monetary value identifies the highest-revenue customers.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964329" y="5803702"/>
            <a:ext cx="5879783" cy="1493401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8299526" y="6020951"/>
            <a:ext cx="291096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Outcome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8299529" y="6389846"/>
            <a:ext cx="535170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RFM shifts the chip category from broad promotions to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data-driven targeting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, improving retention and long-term profitability.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2E0BB3-8273-E755-C07E-280E090199CC}"/>
              </a:ext>
            </a:extLst>
          </p:cNvPr>
          <p:cNvSpPr/>
          <p:nvPr/>
        </p:nvSpPr>
        <p:spPr>
          <a:xfrm>
            <a:off x="12901961" y="7690365"/>
            <a:ext cx="1650380" cy="45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4027"/>
            <a:ext cx="6628448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RFM Customer Behavior Analysis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89" y="1816537"/>
            <a:ext cx="7066121" cy="27522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89" y="4753094"/>
            <a:ext cx="7066121" cy="25080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80746" y="1858766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Segment Highlights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80746" y="2599134"/>
            <a:ext cx="5063366" cy="4450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Loyal Customers + Champions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account for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50% of total revenue (~$930K)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despite a smaller customer share — protect these segments at all costs.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Hibernating + At-Risk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represent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40% of customers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but only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30% of sales (~$400K)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— high churn risk requiring reactivation campaigns.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Potential Loyalists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contribute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$250K (14%)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today — targeted offers could double this to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~$500K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with the right strategy.</a:t>
            </a:r>
            <a:endParaRPr lang="en-US" sz="1400" dirty="0">
              <a:latin typeface="Aptos" panose="020B0004020202020204" pitchFamily="34" charset="0"/>
            </a:endParaRPr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Promising + New Customers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contribute just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$20K (1%)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— onboarding offers and second-purchase discounts are essential to build early loyalty.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F7623C-2A90-5EB0-8AE3-3958B2487D53}"/>
              </a:ext>
            </a:extLst>
          </p:cNvPr>
          <p:cNvSpPr/>
          <p:nvPr/>
        </p:nvSpPr>
        <p:spPr>
          <a:xfrm>
            <a:off x="12823902" y="7705493"/>
            <a:ext cx="1706137" cy="524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5221"/>
            <a:ext cx="778347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RFM Bubble Chart — Spend vs. Engagement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458" y="1893592"/>
            <a:ext cx="7356557" cy="40881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48932" y="166568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Priorities</a:t>
            </a:r>
            <a:endParaRPr lang="en-US" sz="1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2630" y="2080141"/>
            <a:ext cx="255151" cy="2551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01620" y="2074902"/>
            <a:ext cx="270474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anose="020B0604020202020204" charset="0"/>
                <a:ea typeface="Crimson Pro Semi Bold" pitchFamily="34" charset="-122"/>
                <a:cs typeface="Crimson Pro Semi Bold" pitchFamily="34" charset="-120"/>
              </a:rPr>
              <a:t>Protect Champions &amp; Loyalists</a:t>
            </a:r>
            <a:endParaRPr lang="en-US" sz="1600" dirty="0">
              <a:latin typeface="Crimson Pro Semi Bold" panose="020B06040202020202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0101620" y="2468166"/>
            <a:ext cx="374249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26% of customers, AMV $44–$48.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Loyalty rewards and exclusive offers prevent churn in the highest-revenue cohort.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2630" y="3442930"/>
            <a:ext cx="255151" cy="25515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01620" y="3437692"/>
            <a:ext cx="292167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Reactivate Hibernating &amp; At-Risk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0101620" y="3830955"/>
            <a:ext cx="374249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39% of base, AMV $8–$23.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Win-back campaigns targeting lapsed buyers represent the largest untapped revenue pool.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2630" y="4805720"/>
            <a:ext cx="255151" cy="25515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01620" y="4800481"/>
            <a:ext cx="236791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Nurture Potential Loyalists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0101620" y="5193744"/>
            <a:ext cx="374249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22% of customers.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Recent but infrequent — personalized reminders and targeted discounts can accelerate their path to loyal status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2630" y="6168509"/>
            <a:ext cx="255151" cy="25515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101620" y="6163270"/>
            <a:ext cx="236029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Onboard New &amp; Promising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0101620" y="6556534"/>
            <a:ext cx="3742492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AMV $6–$7.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Strengthen the first-purchase experience and offer second-purchase incentives to convert acquisition into retention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12F97E-8FE6-D60A-D073-FA54281F9795}"/>
              </a:ext>
            </a:extLst>
          </p:cNvPr>
          <p:cNvSpPr/>
          <p:nvPr/>
        </p:nvSpPr>
        <p:spPr>
          <a:xfrm>
            <a:off x="12806363" y="7750098"/>
            <a:ext cx="1712525" cy="390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3796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A/B Testing Pre-Setup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280190" y="1566743"/>
            <a:ext cx="75564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Establishing a rigorous foundation for a fair, data-driven retail trial across stores — February through April 2019.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280190" y="2186464"/>
            <a:ext cx="7556421" cy="120419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303050" y="2209324"/>
            <a:ext cx="680442" cy="115847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515695" y="2629019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11008" y="237934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anose="020B0604020202020204" charset="0"/>
                <a:ea typeface="Crimson Pro Semi Bold" pitchFamily="34" charset="-122"/>
                <a:cs typeface="Crimson Pro Semi Bold" pitchFamily="34" charset="-120"/>
              </a:rPr>
              <a:t>Trial </a:t>
            </a:r>
            <a:r>
              <a:rPr lang="en-US" sz="1600" dirty="0">
                <a:solidFill>
                  <a:srgbClr val="4C4C4D"/>
                </a:solidFill>
                <a:latin typeface="Crimson Pro Semi Bold" panose="020B0604020202020204" charset="0"/>
                <a:ea typeface="Crimson Pro Semi Bold" pitchFamily="34" charset="-122"/>
                <a:cs typeface="Crimson Pro Semi Bold" pitchFamily="34" charset="-120"/>
              </a:rPr>
              <a:t>Design</a:t>
            </a:r>
            <a:endParaRPr lang="en-US" sz="1600" dirty="0">
              <a:latin typeface="Crimson Pro Semi Bold" panose="020B06040202020202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11008" y="2721531"/>
            <a:ext cx="65327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Selected trial stores, defined the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Feb–Apr 2019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trial window, and established a pre-trial baseline period for fair comparison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80190" y="3518178"/>
            <a:ext cx="7556421" cy="120419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6303050" y="3541038"/>
            <a:ext cx="680442" cy="115847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515695" y="3960733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111008" y="371105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anose="020B0604020202020204" charset="0"/>
                <a:ea typeface="Crimson Pro Semi Bold" pitchFamily="34" charset="-122"/>
                <a:cs typeface="Crimson Pro Semi Bold" pitchFamily="34" charset="-120"/>
              </a:rPr>
              <a:t>Time Normalization</a:t>
            </a:r>
            <a:endParaRPr lang="en-US" sz="1600" dirty="0">
              <a:latin typeface="Crimson Pro Semi Bold" panose="020B06040202020202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111008" y="4053245"/>
            <a:ext cx="65327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Created a </a:t>
            </a:r>
            <a:r>
              <a:rPr lang="en-US" sz="16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YEARMONTH variable</a:t>
            </a:r>
            <a:r>
              <a:rPr lang="en-US" sz="16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to enable consistent monthly-level analysis across all stores in the dataset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3050" y="4817210"/>
            <a:ext cx="7556421" cy="120419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303050" y="4872752"/>
            <a:ext cx="680442" cy="115847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515695" y="5292447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111008" y="503346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anose="020B0604020202020204" charset="0"/>
                <a:ea typeface="Crimson Pro Semi Bold" pitchFamily="34" charset="-122"/>
                <a:cs typeface="Crimson Pro Semi Bold" pitchFamily="34" charset="-120"/>
              </a:rPr>
              <a:t>Key Metrics</a:t>
            </a:r>
            <a:endParaRPr lang="en-US" sz="1600" dirty="0">
              <a:latin typeface="Crimson Pro Semi Bold" panose="020B06040202020202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111008" y="5384959"/>
            <a:ext cx="65327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Calculated </a:t>
            </a:r>
            <a:r>
              <a:rPr lang="en-US" sz="16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total sales, customer counts, transactions per customer, chips per transaction,</a:t>
            </a:r>
            <a:r>
              <a:rPr lang="en-US" sz="16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and average price per unit.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280190" y="6181606"/>
            <a:ext cx="7556421" cy="1204198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6303050" y="6204466"/>
            <a:ext cx="680442" cy="115847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515695" y="6624161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111008" y="637448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anose="020B0604020202020204" charset="0"/>
                <a:ea typeface="Crimson Pro Semi Bold" pitchFamily="34" charset="-122"/>
                <a:cs typeface="Crimson Pro Semi Bold" pitchFamily="34" charset="-120"/>
              </a:rPr>
              <a:t>Data Quality</a:t>
            </a:r>
            <a:endParaRPr lang="en-US" sz="1650" dirty="0">
              <a:latin typeface="Crimson Pro Semi Bold" panose="020B060402020202020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11008" y="6716673"/>
            <a:ext cx="65327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Retained only stores with </a:t>
            </a:r>
            <a:r>
              <a:rPr lang="en-US" sz="16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complete pre-trial and trial month data</a:t>
            </a:r>
            <a:r>
              <a:rPr lang="en-US" sz="16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to ensure accurate and reliable baseline comparisons.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223502-E0C3-6627-7F0D-2D83C112D82F}"/>
              </a:ext>
            </a:extLst>
          </p:cNvPr>
          <p:cNvSpPr/>
          <p:nvPr/>
        </p:nvSpPr>
        <p:spPr>
          <a:xfrm>
            <a:off x="12857356" y="7750098"/>
            <a:ext cx="1683834" cy="390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985" y="627083"/>
            <a:ext cx="4542830" cy="50842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6270" y="623261"/>
            <a:ext cx="8485203" cy="921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A/B Testing Store Matching Method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6270" y="1251495"/>
            <a:ext cx="8485203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Control stores were selected using a two-part scoring framework to ensure pre-trial alignment with trial stores.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848" y="2273349"/>
            <a:ext cx="221099" cy="2210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5710" y="2268825"/>
            <a:ext cx="197739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Multi-Metric Comparison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35710" y="2556599"/>
            <a:ext cx="5982414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2" charset="-79"/>
              </a:rPr>
              <a:t>Evaluated all eligible stores on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2" charset="-79"/>
              </a:rPr>
              <a:t>total sales, customers, transactions per customer, chips per transaction,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2" charset="-79"/>
              </a:rPr>
              <a:t> and average price per unit.</a:t>
            </a:r>
            <a:endParaRPr lang="en-US" sz="1400" dirty="0">
              <a:latin typeface="Aptos" panose="020B0004020202020204" pitchFamily="34" charset="0"/>
              <a:cs typeface="Heebo" pitchFamily="2" charset="-79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847" y="4252046"/>
            <a:ext cx="221099" cy="2210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5710" y="424752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Pearson Correlation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935710" y="4535296"/>
            <a:ext cx="5982414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Confirmed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trend similarity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in historical sales and customer behavior patterns over the pre-trial period.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848" y="3141791"/>
            <a:ext cx="221099" cy="22109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5710" y="3137267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Magnitude Distance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35710" y="3425041"/>
            <a:ext cx="5982414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Measured absolute scale differences in monthly sales and customer counts, then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standardized across months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to reduce seasonal distortion.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1847" y="5120488"/>
            <a:ext cx="221099" cy="22109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35710" y="5115964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Final Selection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935710" y="5403738"/>
            <a:ext cx="5982414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Chose stores with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high correlation and low magnitude distance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— aligned in both trend direction and business scale.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733D24-BE01-ABEF-C926-DDD2926C27CE}"/>
              </a:ext>
            </a:extLst>
          </p:cNvPr>
          <p:cNvSpPr/>
          <p:nvPr/>
        </p:nvSpPr>
        <p:spPr>
          <a:xfrm>
            <a:off x="12901960" y="7738946"/>
            <a:ext cx="1728439" cy="367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52362" y="840105"/>
            <a:ext cx="668424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Sales Uplift Between Trial and Control Stores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7152362" y="2191703"/>
            <a:ext cx="6989523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291925" y="2391072"/>
            <a:ext cx="200645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February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291925" y="2743676"/>
            <a:ext cx="636323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+4%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sales increase — trial stores begin pulling ahead of control stores after the initiative launches.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152362" y="3592711"/>
            <a:ext cx="6989523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329503" y="3774162"/>
            <a:ext cx="200645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March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291925" y="4144685"/>
            <a:ext cx="665384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+25%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peak uplift — highest observed gap of ~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$180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between trial and control monthly sales.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152362" y="4993719"/>
            <a:ext cx="6989523" cy="994648"/>
          </a:xfrm>
          <a:prstGeom prst="roundRect">
            <a:avLst>
              <a:gd name="adj" fmla="val 273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291925" y="5156537"/>
            <a:ext cx="200645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April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291925" y="5545693"/>
            <a:ext cx="636323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+13%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increase — uplift moderates but remains well above the pre-trial baseline trend</a:t>
            </a: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52362" y="6133505"/>
            <a:ext cx="6989523" cy="1255871"/>
          </a:xfrm>
          <a:prstGeom prst="roundRect">
            <a:avLst>
              <a:gd name="adj" fmla="val 21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291925" y="6362282"/>
            <a:ext cx="200645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Pre-Trial Alignment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291925" y="6685478"/>
            <a:ext cx="6653846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Control and trial stores tracked the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same seasonal pattern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before Feb 2019, validating the matching method.</a:t>
            </a:r>
            <a:endParaRPr lang="en-US" sz="1400" dirty="0">
              <a:latin typeface="Aptos" panose="020B00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32B832-5859-9458-AB12-F31C19FBE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64" y="1753252"/>
            <a:ext cx="6591300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C8500AA-911B-2D91-8139-D1EE18DB1D03}"/>
              </a:ext>
            </a:extLst>
          </p:cNvPr>
          <p:cNvSpPr/>
          <p:nvPr/>
        </p:nvSpPr>
        <p:spPr>
          <a:xfrm>
            <a:off x="12790449" y="7783551"/>
            <a:ext cx="1739590" cy="356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7711"/>
            <a:ext cx="808160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Revenue Lift Between Trial and Control Stores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93790" y="1524476"/>
            <a:ext cx="130428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All three trial–control pairs demonstrated consistent sales divergence after the trial start date (dashed red line), confirming the initiative's positive impact across different store scales.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144197"/>
            <a:ext cx="13042821" cy="605790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93790" y="2144197"/>
            <a:ext cx="4347567" cy="605790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3811" y="2314218"/>
            <a:ext cx="250638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Trial Store 77 vs. Control 233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141357" y="2144197"/>
            <a:ext cx="4347567" cy="6057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141357" y="2144197"/>
            <a:ext cx="22860" cy="60579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311378" y="2314218"/>
            <a:ext cx="250781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Trial Store 86 vs. Control 155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488924" y="2144197"/>
            <a:ext cx="4347567" cy="60579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9488924" y="2144197"/>
            <a:ext cx="22860" cy="60579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658945" y="2314218"/>
            <a:ext cx="25430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Trial Store 88 vs. Control 237</a:t>
            </a:r>
            <a:endParaRPr lang="en-US" sz="16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91" y="3000077"/>
            <a:ext cx="5911691" cy="2229445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553551"/>
            <a:ext cx="6016392" cy="2229445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8964" y="3250240"/>
            <a:ext cx="5581959" cy="209488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4A77CDC-14B9-C3EF-9F95-B7EDBDAE0F90}"/>
              </a:ext>
            </a:extLst>
          </p:cNvPr>
          <p:cNvGrpSpPr/>
          <p:nvPr/>
        </p:nvGrpSpPr>
        <p:grpSpPr>
          <a:xfrm>
            <a:off x="7330054" y="5828644"/>
            <a:ext cx="5400869" cy="1084183"/>
            <a:chOff x="9548932" y="5326737"/>
            <a:chExt cx="4295180" cy="1084183"/>
          </a:xfrm>
        </p:grpSpPr>
        <p:sp>
          <p:nvSpPr>
            <p:cNvPr id="16" name="Shape 11"/>
            <p:cNvSpPr/>
            <p:nvPr/>
          </p:nvSpPr>
          <p:spPr>
            <a:xfrm>
              <a:off x="9548932" y="5326737"/>
              <a:ext cx="4295180" cy="1084183"/>
            </a:xfrm>
            <a:prstGeom prst="roundRect">
              <a:avLst>
                <a:gd name="adj" fmla="val 2354"/>
              </a:avLst>
            </a:prstGeom>
            <a:solidFill>
              <a:srgbClr val="B3C3FF"/>
            </a:solidFill>
            <a:ln/>
          </p:spPr>
          <p:txBody>
            <a:bodyPr/>
            <a:lstStyle/>
            <a:p>
              <a:endParaRPr lang="en-GB"/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18953" y="5558076"/>
              <a:ext cx="212646" cy="170021"/>
            </a:xfrm>
            <a:prstGeom prst="rect">
              <a:avLst/>
            </a:prstGeom>
          </p:spPr>
        </p:pic>
        <p:sp>
          <p:nvSpPr>
            <p:cNvPr id="18" name="Text 12"/>
            <p:cNvSpPr/>
            <p:nvPr/>
          </p:nvSpPr>
          <p:spPr>
            <a:xfrm>
              <a:off x="10101620" y="5496758"/>
              <a:ext cx="3572470" cy="714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50"/>
                </a:lnSpc>
                <a:buNone/>
              </a:pPr>
              <a:r>
                <a:rPr lang="en-US" sz="1400" dirty="0">
                  <a:solidFill>
                    <a:srgbClr val="000000"/>
                  </a:solidFill>
                  <a:latin typeface="Aptos" panose="020B0004020202020204" pitchFamily="34" charset="0"/>
                  <a:ea typeface="Heebo" pitchFamily="34" charset="-122"/>
                  <a:cs typeface="Heebo" pitchFamily="34" charset="-120"/>
                </a:rPr>
                <a:t>Each pair tracks closely pre-trial, then diverges post-February — a clear signal of incremental lift attributable to the initiative.</a:t>
              </a:r>
              <a:endParaRPr lang="en-US" sz="1400" dirty="0">
                <a:latin typeface="Aptos" panose="020B0004020202020204" pitchFamily="34" charset="0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E58F8FD1-90BA-971E-7CB6-F9578E13F0D0}"/>
              </a:ext>
            </a:extLst>
          </p:cNvPr>
          <p:cNvSpPr/>
          <p:nvPr/>
        </p:nvSpPr>
        <p:spPr>
          <a:xfrm>
            <a:off x="12730923" y="7782996"/>
            <a:ext cx="1787965" cy="3573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031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Recommendations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1424940"/>
            <a:ext cx="7556421" cy="1562814"/>
          </a:xfrm>
          <a:prstGeom prst="roundRect">
            <a:avLst>
              <a:gd name="adj" fmla="val 70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6257330" y="1424940"/>
            <a:ext cx="91440" cy="1562814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553081" y="1629251"/>
            <a:ext cx="271688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Optimize Pricing &amp; Bundling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53081" y="1999774"/>
            <a:ext cx="7079218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Use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average price per unit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and chips-per-transaction insights to test multi-pack bundles in high-performing stores. Grow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basket size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rather than cutting prices to protect margins.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80190" y="3132892"/>
            <a:ext cx="7556421" cy="1301591"/>
          </a:xfrm>
          <a:prstGeom prst="roundRect">
            <a:avLst>
              <a:gd name="adj" fmla="val 84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257330" y="3132892"/>
            <a:ext cx="91440" cy="1301591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553081" y="3337203"/>
            <a:ext cx="309895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RFM-Based Targeted Promotions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553081" y="3707725"/>
            <a:ext cx="7079218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Reward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Champions and Potential Loyalists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with personalized offers. Reactivate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At-Risk and Hibernating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customers with limited-time discounts and reminder messaging.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80190" y="4579620"/>
            <a:ext cx="7556421" cy="1301591"/>
          </a:xfrm>
          <a:prstGeom prst="roundRect">
            <a:avLst>
              <a:gd name="adj" fmla="val 843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257330" y="4579620"/>
            <a:ext cx="91440" cy="1301591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553081" y="4783931"/>
            <a:ext cx="242708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Convert One-Time Buyers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553081" y="5154454"/>
            <a:ext cx="7079218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Identify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New and Promising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segments and deploy onboarding incentives such as second-purchase discounts. Track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repeat purchase uplift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as a primary KPI.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80190" y="6026348"/>
            <a:ext cx="7556421" cy="1562814"/>
          </a:xfrm>
          <a:prstGeom prst="roundRect">
            <a:avLst>
              <a:gd name="adj" fmla="val 702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6257330" y="6026348"/>
            <a:ext cx="91440" cy="1562814"/>
          </a:xfrm>
          <a:prstGeom prst="roundRect">
            <a:avLst>
              <a:gd name="adj" fmla="val 2976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553081" y="6230660"/>
            <a:ext cx="259115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Institutionalize A/B Testing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553081" y="6601182"/>
            <a:ext cx="7079218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Continue using matched controls and pre-trial validation for all major changes. Focus decisions on </a:t>
            </a:r>
            <a:r>
              <a:rPr lang="en-US" sz="1400" b="1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measurable incremental uplift</a:t>
            </a:r>
            <a:r>
              <a:rPr lang="en-US" sz="140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— not raw sales — to ensure causality and ROI.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180E6B-8450-F004-2DAA-616BD3132186}"/>
              </a:ext>
            </a:extLst>
          </p:cNvPr>
          <p:cNvSpPr/>
          <p:nvPr/>
        </p:nvSpPr>
        <p:spPr>
          <a:xfrm>
            <a:off x="12835054" y="7772400"/>
            <a:ext cx="1694985" cy="391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7401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789045"/>
            <a:ext cx="7556421" cy="1700332"/>
          </a:xfrm>
          <a:prstGeom prst="roundRect">
            <a:avLst>
              <a:gd name="adj" fmla="val 200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020604" y="40158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Cyril Obeng-Darko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4506278"/>
            <a:ext cx="7102793" cy="756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📞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+44 7389 170658</a:t>
            </a:r>
            <a:endParaRPr lang="en-US" sz="1750" dirty="0">
              <a:latin typeface="Aptos" panose="020B00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✉️</a:t>
            </a:r>
            <a:r>
              <a:rPr lang="en-US" sz="1750" dirty="0">
                <a:solidFill>
                  <a:srgbClr val="4C4C4D"/>
                </a:solidFill>
                <a:latin typeface="Aptos" panose="020B0004020202020204" pitchFamily="34" charset="0"/>
                <a:ea typeface="Heebo" pitchFamily="34" charset="-122"/>
                <a:cs typeface="Heebo" pitchFamily="34" charset="-120"/>
              </a:rPr>
              <a:t> cyrilobeng7@gmail.com</a:t>
            </a:r>
            <a:endParaRPr lang="en-US" sz="1750" dirty="0">
              <a:latin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AD2219-59F6-1609-32EC-3C522BF2C948}"/>
              </a:ext>
            </a:extLst>
          </p:cNvPr>
          <p:cNvSpPr/>
          <p:nvPr/>
        </p:nvSpPr>
        <p:spPr>
          <a:xfrm>
            <a:off x="12823903" y="7750098"/>
            <a:ext cx="1717288" cy="367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1355</Words>
  <Application>Microsoft Office PowerPoint</Application>
  <PresentationFormat>Custom</PresentationFormat>
  <Paragraphs>153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Crimson Pro Semi Bold</vt:lpstr>
      <vt:lpstr>Aptos</vt:lpstr>
      <vt:lpstr>Arial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Cyril Obeng Darko</dc:creator>
  <cp:lastModifiedBy>Cyril Obeng Darko</cp:lastModifiedBy>
  <cp:revision>3</cp:revision>
  <dcterms:created xsi:type="dcterms:W3CDTF">2026-03-17T03:07:14Z</dcterms:created>
  <dcterms:modified xsi:type="dcterms:W3CDTF">2026-03-17T16:30:48Z</dcterms:modified>
</cp:coreProperties>
</file>