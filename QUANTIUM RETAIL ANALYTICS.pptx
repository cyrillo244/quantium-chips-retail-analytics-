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1"/>
  </p:notesMasterIdLst>
  <p:handoutMasterIdLst>
    <p:handoutMasterId r:id="rId22"/>
  </p:handoutMasterIdLst>
  <p:sldIdLst>
    <p:sldId id="410" r:id="rId5"/>
    <p:sldId id="383" r:id="rId6"/>
    <p:sldId id="389" r:id="rId7"/>
    <p:sldId id="391" r:id="rId8"/>
    <p:sldId id="397" r:id="rId9"/>
    <p:sldId id="408" r:id="rId10"/>
    <p:sldId id="407" r:id="rId11"/>
    <p:sldId id="406" r:id="rId12"/>
    <p:sldId id="405" r:id="rId13"/>
    <p:sldId id="404" r:id="rId14"/>
    <p:sldId id="403" r:id="rId15"/>
    <p:sldId id="414" r:id="rId16"/>
    <p:sldId id="413" r:id="rId17"/>
    <p:sldId id="415" r:id="rId18"/>
    <p:sldId id="412" r:id="rId19"/>
    <p:sldId id="39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4469FB-C86F-40EA-9EF6-BBA92B942685}" v="26" dt="2026-03-07T16:00:41.398"/>
  </p1510:revLst>
</p1510:revInfo>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27" autoAdjust="0"/>
  </p:normalViewPr>
  <p:slideViewPr>
    <p:cSldViewPr snapToGrid="0">
      <p:cViewPr varScale="1">
        <p:scale>
          <a:sx n="102" d="100"/>
          <a:sy n="102" d="100"/>
        </p:scale>
        <p:origin x="954" y="31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yril Obeng Darko" userId="effc13ac754df4a2" providerId="LiveId" clId="{93402691-E40A-4722-9DE4-6B0C42A2BD17}"/>
    <pc:docChg chg="undo redo custSel addSld delSld modSld">
      <pc:chgData name="Cyril Obeng Darko" userId="effc13ac754df4a2" providerId="LiveId" clId="{93402691-E40A-4722-9DE4-6B0C42A2BD17}" dt="2026-03-13T14:48:23.817" v="8960" actId="14100"/>
      <pc:docMkLst>
        <pc:docMk/>
      </pc:docMkLst>
      <pc:sldChg chg="modSp mod">
        <pc:chgData name="Cyril Obeng Darko" userId="effc13ac754df4a2" providerId="LiveId" clId="{93402691-E40A-4722-9DE4-6B0C42A2BD17}" dt="2026-03-10T18:32:24.997" v="8881" actId="20577"/>
        <pc:sldMkLst>
          <pc:docMk/>
          <pc:sldMk cId="1440871986" sldId="389"/>
        </pc:sldMkLst>
        <pc:spChg chg="mod">
          <ac:chgData name="Cyril Obeng Darko" userId="effc13ac754df4a2" providerId="LiveId" clId="{93402691-E40A-4722-9DE4-6B0C42A2BD17}" dt="2026-03-10T18:32:24.997" v="8881" actId="20577"/>
          <ac:spMkLst>
            <pc:docMk/>
            <pc:sldMk cId="1440871986" sldId="389"/>
            <ac:spMk id="3" creationId="{0E02AE9C-BA1D-195E-3B93-A5A0CC03D8F3}"/>
          </ac:spMkLst>
        </pc:spChg>
        <pc:spChg chg="mod">
          <ac:chgData name="Cyril Obeng Darko" userId="effc13ac754df4a2" providerId="LiveId" clId="{93402691-E40A-4722-9DE4-6B0C42A2BD17}" dt="2026-03-10T18:30:49.500" v="8828" actId="14100"/>
          <ac:spMkLst>
            <pc:docMk/>
            <pc:sldMk cId="1440871986" sldId="389"/>
            <ac:spMk id="9" creationId="{9E8160B6-0000-3AEC-18A4-E18E0A0F210A}"/>
          </ac:spMkLst>
        </pc:spChg>
      </pc:sldChg>
      <pc:sldChg chg="addSp delSp modSp mod">
        <pc:chgData name="Cyril Obeng Darko" userId="effc13ac754df4a2" providerId="LiveId" clId="{93402691-E40A-4722-9DE4-6B0C42A2BD17}" dt="2026-03-10T18:34:40.443" v="8895" actId="113"/>
        <pc:sldMkLst>
          <pc:docMk/>
          <pc:sldMk cId="3200312026" sldId="391"/>
        </pc:sldMkLst>
        <pc:spChg chg="mod">
          <ac:chgData name="Cyril Obeng Darko" userId="effc13ac754df4a2" providerId="LiveId" clId="{93402691-E40A-4722-9DE4-6B0C42A2BD17}" dt="2026-03-10T18:34:40.443" v="8895" actId="113"/>
          <ac:spMkLst>
            <pc:docMk/>
            <pc:sldMk cId="3200312026" sldId="391"/>
            <ac:spMk id="7" creationId="{F70BD87D-F7DA-961B-4024-A354DC87D168}"/>
          </ac:spMkLst>
        </pc:spChg>
        <pc:picChg chg="add mod">
          <ac:chgData name="Cyril Obeng Darko" userId="effc13ac754df4a2" providerId="LiveId" clId="{93402691-E40A-4722-9DE4-6B0C42A2BD17}" dt="2026-02-26T15:23:05.936" v="6942" actId="14100"/>
          <ac:picMkLst>
            <pc:docMk/>
            <pc:sldMk cId="3200312026" sldId="391"/>
            <ac:picMk id="5" creationId="{9DB72389-71FD-3A12-DC4D-41691584CE32}"/>
          </ac:picMkLst>
        </pc:picChg>
      </pc:sldChg>
      <pc:sldChg chg="modSp mod">
        <pc:chgData name="Cyril Obeng Darko" userId="effc13ac754df4a2" providerId="LiveId" clId="{93402691-E40A-4722-9DE4-6B0C42A2BD17}" dt="2026-02-27T21:02:26.283" v="7443" actId="20577"/>
        <pc:sldMkLst>
          <pc:docMk/>
          <pc:sldMk cId="2039059756" sldId="397"/>
        </pc:sldMkLst>
        <pc:spChg chg="mod">
          <ac:chgData name="Cyril Obeng Darko" userId="effc13ac754df4a2" providerId="LiveId" clId="{93402691-E40A-4722-9DE4-6B0C42A2BD17}" dt="2026-02-27T21:02:26.283" v="7443" actId="20577"/>
          <ac:spMkLst>
            <pc:docMk/>
            <pc:sldMk cId="2039059756" sldId="397"/>
            <ac:spMk id="9" creationId="{5AB6D40A-2A0A-AF3D-8CF7-3ECD37765637}"/>
          </ac:spMkLst>
        </pc:spChg>
      </pc:sldChg>
      <pc:sldChg chg="modSp mod">
        <pc:chgData name="Cyril Obeng Darko" userId="effc13ac754df4a2" providerId="LiveId" clId="{93402691-E40A-4722-9DE4-6B0C42A2BD17}" dt="2026-03-10T18:47:41.702" v="8959" actId="113"/>
        <pc:sldMkLst>
          <pc:docMk/>
          <pc:sldMk cId="752428618" sldId="403"/>
        </pc:sldMkLst>
        <pc:spChg chg="mod">
          <ac:chgData name="Cyril Obeng Darko" userId="effc13ac754df4a2" providerId="LiveId" clId="{93402691-E40A-4722-9DE4-6B0C42A2BD17}" dt="2026-02-27T22:00:34.179" v="8592"/>
          <ac:spMkLst>
            <pc:docMk/>
            <pc:sldMk cId="752428618" sldId="403"/>
            <ac:spMk id="5" creationId="{ED4F7B83-0646-7C48-C406-9CCA60B1FBF3}"/>
          </ac:spMkLst>
        </pc:spChg>
        <pc:spChg chg="mod">
          <ac:chgData name="Cyril Obeng Darko" userId="effc13ac754df4a2" providerId="LiveId" clId="{93402691-E40A-4722-9DE4-6B0C42A2BD17}" dt="2026-03-10T18:47:41.702" v="8959" actId="113"/>
          <ac:spMkLst>
            <pc:docMk/>
            <pc:sldMk cId="752428618" sldId="403"/>
            <ac:spMk id="6" creationId="{6C0350B8-DD63-862D-CD15-765C5749A580}"/>
          </ac:spMkLst>
        </pc:spChg>
      </pc:sldChg>
      <pc:sldChg chg="addSp delSp modSp mod">
        <pc:chgData name="Cyril Obeng Darko" userId="effc13ac754df4a2" providerId="LiveId" clId="{93402691-E40A-4722-9DE4-6B0C42A2BD17}" dt="2026-02-13T20:35:50.792" v="5720" actId="113"/>
        <pc:sldMkLst>
          <pc:docMk/>
          <pc:sldMk cId="1850768898" sldId="404"/>
        </pc:sldMkLst>
        <pc:spChg chg="mod">
          <ac:chgData name="Cyril Obeng Darko" userId="effc13ac754df4a2" providerId="LiveId" clId="{93402691-E40A-4722-9DE4-6B0C42A2BD17}" dt="2026-02-13T20:35:50.792" v="5720" actId="113"/>
          <ac:spMkLst>
            <pc:docMk/>
            <pc:sldMk cId="1850768898" sldId="404"/>
            <ac:spMk id="4" creationId="{43E198AA-251D-4446-30C4-8F2FA7F6A72C}"/>
          </ac:spMkLst>
        </pc:spChg>
        <pc:picChg chg="add mod ord">
          <ac:chgData name="Cyril Obeng Darko" userId="effc13ac754df4a2" providerId="LiveId" clId="{93402691-E40A-4722-9DE4-6B0C42A2BD17}" dt="2026-02-13T20:07:14.158" v="4720" actId="14100"/>
          <ac:picMkLst>
            <pc:docMk/>
            <pc:sldMk cId="1850768898" sldId="404"/>
            <ac:picMk id="9" creationId="{DA22BEB8-D352-271B-8F8A-BF5F9114B5E3}"/>
          </ac:picMkLst>
        </pc:picChg>
      </pc:sldChg>
      <pc:sldChg chg="addSp delSp modSp mod modClrScheme chgLayout">
        <pc:chgData name="Cyril Obeng Darko" userId="effc13ac754df4a2" providerId="LiveId" clId="{93402691-E40A-4722-9DE4-6B0C42A2BD17}" dt="2026-03-10T18:44:33.607" v="8958" actId="14100"/>
        <pc:sldMkLst>
          <pc:docMk/>
          <pc:sldMk cId="4127695141" sldId="405"/>
        </pc:sldMkLst>
        <pc:spChg chg="mod ord">
          <ac:chgData name="Cyril Obeng Darko" userId="effc13ac754df4a2" providerId="LiveId" clId="{93402691-E40A-4722-9DE4-6B0C42A2BD17}" dt="2026-03-10T18:44:03.284" v="8957" actId="20577"/>
          <ac:spMkLst>
            <pc:docMk/>
            <pc:sldMk cId="4127695141" sldId="405"/>
            <ac:spMk id="4" creationId="{CDB14AAA-1F04-769D-E7F0-4F68C8EB9283}"/>
          </ac:spMkLst>
        </pc:spChg>
        <pc:spChg chg="mod">
          <ac:chgData name="Cyril Obeng Darko" userId="effc13ac754df4a2" providerId="LiveId" clId="{93402691-E40A-4722-9DE4-6B0C42A2BD17}" dt="2026-03-10T18:44:33.607" v="8958" actId="14100"/>
          <ac:spMkLst>
            <pc:docMk/>
            <pc:sldMk cId="4127695141" sldId="405"/>
            <ac:spMk id="6" creationId="{76A9A9A7-F1D2-237D-AC72-E21A286F0A6F}"/>
          </ac:spMkLst>
        </pc:spChg>
        <pc:picChg chg="add mod ord">
          <ac:chgData name="Cyril Obeng Darko" userId="effc13ac754df4a2" providerId="LiveId" clId="{93402691-E40A-4722-9DE4-6B0C42A2BD17}" dt="2026-03-09T22:26:46.103" v="8796" actId="14100"/>
          <ac:picMkLst>
            <pc:docMk/>
            <pc:sldMk cId="4127695141" sldId="405"/>
            <ac:picMk id="23" creationId="{B9732A70-3404-9C1D-BA88-EEE1A87D8D29}"/>
          </ac:picMkLst>
        </pc:picChg>
        <pc:picChg chg="add mod">
          <ac:chgData name="Cyril Obeng Darko" userId="effc13ac754df4a2" providerId="LiveId" clId="{93402691-E40A-4722-9DE4-6B0C42A2BD17}" dt="2026-03-09T22:27:35.697" v="8802" actId="14100"/>
          <ac:picMkLst>
            <pc:docMk/>
            <pc:sldMk cId="4127695141" sldId="405"/>
            <ac:picMk id="25" creationId="{1F1FF454-5EDE-0111-51F0-2635A740E923}"/>
          </ac:picMkLst>
        </pc:picChg>
      </pc:sldChg>
      <pc:sldChg chg="addSp delSp modSp mod">
        <pc:chgData name="Cyril Obeng Darko" userId="effc13ac754df4a2" providerId="LiveId" clId="{93402691-E40A-4722-9DE4-6B0C42A2BD17}" dt="2026-02-27T21:42:47.722" v="7863" actId="20577"/>
        <pc:sldMkLst>
          <pc:docMk/>
          <pc:sldMk cId="298364507" sldId="406"/>
        </pc:sldMkLst>
        <pc:spChg chg="mod">
          <ac:chgData name="Cyril Obeng Darko" userId="effc13ac754df4a2" providerId="LiveId" clId="{93402691-E40A-4722-9DE4-6B0C42A2BD17}" dt="2026-02-27T21:42:47.722" v="7863" actId="20577"/>
          <ac:spMkLst>
            <pc:docMk/>
            <pc:sldMk cId="298364507" sldId="406"/>
            <ac:spMk id="3" creationId="{34F2E863-4A4C-76FE-444A-083F93043389}"/>
          </ac:spMkLst>
        </pc:spChg>
        <pc:spChg chg="mod">
          <ac:chgData name="Cyril Obeng Darko" userId="effc13ac754df4a2" providerId="LiveId" clId="{93402691-E40A-4722-9DE4-6B0C42A2BD17}" dt="2026-02-27T21:42:19.804" v="7860" actId="27636"/>
          <ac:spMkLst>
            <pc:docMk/>
            <pc:sldMk cId="298364507" sldId="406"/>
            <ac:spMk id="4" creationId="{D69E6B09-3E23-F4F0-7C1F-AF84B265DB68}"/>
          </ac:spMkLst>
        </pc:spChg>
      </pc:sldChg>
      <pc:sldChg chg="addSp delSp modSp mod modClrScheme chgLayout">
        <pc:chgData name="Cyril Obeng Darko" userId="effc13ac754df4a2" providerId="LiveId" clId="{93402691-E40A-4722-9DE4-6B0C42A2BD17}" dt="2026-02-27T21:21:18.409" v="7833" actId="20577"/>
        <pc:sldMkLst>
          <pc:docMk/>
          <pc:sldMk cId="3088225330" sldId="407"/>
        </pc:sldMkLst>
        <pc:spChg chg="mod">
          <ac:chgData name="Cyril Obeng Darko" userId="effc13ac754df4a2" providerId="LiveId" clId="{93402691-E40A-4722-9DE4-6B0C42A2BD17}" dt="2026-02-27T21:21:18.409" v="7833" actId="20577"/>
          <ac:spMkLst>
            <pc:docMk/>
            <pc:sldMk cId="3088225330" sldId="407"/>
            <ac:spMk id="3" creationId="{8B599B60-BF79-A832-6AD4-6C6FC6CE4317}"/>
          </ac:spMkLst>
        </pc:spChg>
      </pc:sldChg>
      <pc:sldChg chg="addSp delSp modSp mod modClrScheme chgLayout">
        <pc:chgData name="Cyril Obeng Darko" userId="effc13ac754df4a2" providerId="LiveId" clId="{93402691-E40A-4722-9DE4-6B0C42A2BD17}" dt="2026-02-27T21:12:59.496" v="7792" actId="113"/>
        <pc:sldMkLst>
          <pc:docMk/>
          <pc:sldMk cId="888484295" sldId="408"/>
        </pc:sldMkLst>
        <pc:spChg chg="mod">
          <ac:chgData name="Cyril Obeng Darko" userId="effc13ac754df4a2" providerId="LiveId" clId="{93402691-E40A-4722-9DE4-6B0C42A2BD17}" dt="2026-02-24T17:06:05.397" v="5758" actId="1035"/>
          <ac:spMkLst>
            <pc:docMk/>
            <pc:sldMk cId="888484295" sldId="408"/>
            <ac:spMk id="2" creationId="{805346ED-721D-85EE-2F1B-A31D0912DE29}"/>
          </ac:spMkLst>
        </pc:spChg>
        <pc:spChg chg="add del mod ord">
          <ac:chgData name="Cyril Obeng Darko" userId="effc13ac754df4a2" providerId="LiveId" clId="{93402691-E40A-4722-9DE4-6B0C42A2BD17}" dt="2026-02-27T21:12:59.496" v="7792" actId="113"/>
          <ac:spMkLst>
            <pc:docMk/>
            <pc:sldMk cId="888484295" sldId="408"/>
            <ac:spMk id="3" creationId="{DB097449-5B72-ADA0-3B2D-1CBC160D6B90}"/>
          </ac:spMkLst>
        </pc:spChg>
      </pc:sldChg>
      <pc:sldChg chg="modSp mod">
        <pc:chgData name="Cyril Obeng Darko" userId="effc13ac754df4a2" providerId="LiveId" clId="{93402691-E40A-4722-9DE4-6B0C42A2BD17}" dt="2026-03-13T14:48:23.817" v="8960" actId="14100"/>
        <pc:sldMkLst>
          <pc:docMk/>
          <pc:sldMk cId="1863608639" sldId="412"/>
        </pc:sldMkLst>
        <pc:spChg chg="mod">
          <ac:chgData name="Cyril Obeng Darko" userId="effc13ac754df4a2" providerId="LiveId" clId="{93402691-E40A-4722-9DE4-6B0C42A2BD17}" dt="2026-03-13T14:48:23.817" v="8960" actId="14100"/>
          <ac:spMkLst>
            <pc:docMk/>
            <pc:sldMk cId="1863608639" sldId="412"/>
            <ac:spMk id="4" creationId="{96B6D17A-DF2D-3B5F-DD33-0AAECDCA03AC}"/>
          </ac:spMkLst>
        </pc:spChg>
      </pc:sldChg>
      <pc:sldChg chg="addSp delSp modSp add mod modTransition modClrScheme chgLayout">
        <pc:chgData name="Cyril Obeng Darko" userId="effc13ac754df4a2" providerId="LiveId" clId="{93402691-E40A-4722-9DE4-6B0C42A2BD17}" dt="2026-02-26T16:09:09.339" v="7023" actId="1582"/>
        <pc:sldMkLst>
          <pc:docMk/>
          <pc:sldMk cId="2339811983" sldId="413"/>
        </pc:sldMkLst>
        <pc:spChg chg="mod">
          <ac:chgData name="Cyril Obeng Darko" userId="effc13ac754df4a2" providerId="LiveId" clId="{93402691-E40A-4722-9DE4-6B0C42A2BD17}" dt="2026-02-24T18:42:45.703" v="6923" actId="20577"/>
          <ac:spMkLst>
            <pc:docMk/>
            <pc:sldMk cId="2339811983" sldId="413"/>
            <ac:spMk id="2" creationId="{C2A564C2-750C-7EA1-23FE-E4B5CDF84B4C}"/>
          </ac:spMkLst>
        </pc:spChg>
        <pc:spChg chg="add mod">
          <ac:chgData name="Cyril Obeng Darko" userId="effc13ac754df4a2" providerId="LiveId" clId="{93402691-E40A-4722-9DE4-6B0C42A2BD17}" dt="2026-02-26T16:07:10.020" v="7007" actId="1582"/>
          <ac:spMkLst>
            <pc:docMk/>
            <pc:sldMk cId="2339811983" sldId="413"/>
            <ac:spMk id="14" creationId="{89CB97CC-09A5-8CBC-E2ED-AE1CF6D5B475}"/>
          </ac:spMkLst>
        </pc:spChg>
        <pc:spChg chg="add mod">
          <ac:chgData name="Cyril Obeng Darko" userId="effc13ac754df4a2" providerId="LiveId" clId="{93402691-E40A-4722-9DE4-6B0C42A2BD17}" dt="2026-02-26T16:08:25.399" v="7019" actId="1582"/>
          <ac:spMkLst>
            <pc:docMk/>
            <pc:sldMk cId="2339811983" sldId="413"/>
            <ac:spMk id="17" creationId="{BB248F76-E708-56D4-DE66-171E49F5B3EC}"/>
          </ac:spMkLst>
        </pc:spChg>
        <pc:spChg chg="add mod">
          <ac:chgData name="Cyril Obeng Darko" userId="effc13ac754df4a2" providerId="LiveId" clId="{93402691-E40A-4722-9DE4-6B0C42A2BD17}" dt="2026-02-26T16:09:09.339" v="7023" actId="1582"/>
          <ac:spMkLst>
            <pc:docMk/>
            <pc:sldMk cId="2339811983" sldId="413"/>
            <ac:spMk id="18" creationId="{E4BD942D-D7D4-0283-FDB5-EF1385E7EAA4}"/>
          </ac:spMkLst>
        </pc:spChg>
        <pc:spChg chg="add mod">
          <ac:chgData name="Cyril Obeng Darko" userId="effc13ac754df4a2" providerId="LiveId" clId="{93402691-E40A-4722-9DE4-6B0C42A2BD17}" dt="2026-02-24T18:44:00.461" v="6930" actId="14100"/>
          <ac:spMkLst>
            <pc:docMk/>
            <pc:sldMk cId="2339811983" sldId="413"/>
            <ac:spMk id="30" creationId="{D1EEAA5D-0F5D-9ECD-63C8-C23B61CF027C}"/>
          </ac:spMkLst>
        </pc:spChg>
        <pc:picChg chg="add mod ord">
          <ac:chgData name="Cyril Obeng Darko" userId="effc13ac754df4a2" providerId="LiveId" clId="{93402691-E40A-4722-9DE4-6B0C42A2BD17}" dt="2026-02-26T16:07:51.958" v="7014" actId="1076"/>
          <ac:picMkLst>
            <pc:docMk/>
            <pc:sldMk cId="2339811983" sldId="413"/>
            <ac:picMk id="13" creationId="{D2439AC3-16F7-0A58-9588-4D1B726C8B24}"/>
          </ac:picMkLst>
        </pc:picChg>
      </pc:sldChg>
      <pc:sldChg chg="addSp delSp modSp add mod modTransition modClrScheme chgLayout">
        <pc:chgData name="Cyril Obeng Darko" userId="effc13ac754df4a2" providerId="LiveId" clId="{93402691-E40A-4722-9DE4-6B0C42A2BD17}" dt="2026-02-24T17:38:52.322" v="5802" actId="1076"/>
        <pc:sldMkLst>
          <pc:docMk/>
          <pc:sldMk cId="2695876043" sldId="414"/>
        </pc:sldMkLst>
        <pc:spChg chg="add del mod">
          <ac:chgData name="Cyril Obeng Darko" userId="effc13ac754df4a2" providerId="LiveId" clId="{93402691-E40A-4722-9DE4-6B0C42A2BD17}" dt="2026-02-24T17:38:52.322" v="5802" actId="1076"/>
          <ac:spMkLst>
            <pc:docMk/>
            <pc:sldMk cId="2695876043" sldId="414"/>
            <ac:spMk id="4" creationId="{3ED84067-C582-FC9D-242E-E58211F0124E}"/>
          </ac:spMkLst>
        </pc:spChg>
      </pc:sldChg>
      <pc:sldChg chg="addSp delSp modSp new mod">
        <pc:chgData name="Cyril Obeng Darko" userId="effc13ac754df4a2" providerId="LiveId" clId="{93402691-E40A-4722-9DE4-6B0C42A2BD17}" dt="2026-03-07T16:07:24.864" v="8767" actId="14100"/>
        <pc:sldMkLst>
          <pc:docMk/>
          <pc:sldMk cId="2869630543" sldId="415"/>
        </pc:sldMkLst>
        <pc:spChg chg="mod">
          <ac:chgData name="Cyril Obeng Darko" userId="effc13ac754df4a2" providerId="LiveId" clId="{93402691-E40A-4722-9DE4-6B0C42A2BD17}" dt="2026-03-07T16:07:24.864" v="8767" actId="14100"/>
          <ac:spMkLst>
            <pc:docMk/>
            <pc:sldMk cId="2869630543" sldId="415"/>
            <ac:spMk id="2" creationId="{26543BB2-E794-65F3-DE40-6D1745C65F3C}"/>
          </ac:spMkLst>
        </pc:spChg>
        <pc:graphicFrameChg chg="add mod modGraphic">
          <ac:chgData name="Cyril Obeng Darko" userId="effc13ac754df4a2" providerId="LiveId" clId="{93402691-E40A-4722-9DE4-6B0C42A2BD17}" dt="2026-03-07T16:04:34.485" v="8711" actId="1076"/>
          <ac:graphicFrameMkLst>
            <pc:docMk/>
            <pc:sldMk cId="2869630543" sldId="415"/>
            <ac:graphicFrameMk id="17" creationId="{A2EEE230-BE29-7E0C-7B6B-CD77C3018CB8}"/>
          </ac:graphicFrameMkLst>
        </pc:graphicFrameChg>
        <pc:picChg chg="add mod ord">
          <ac:chgData name="Cyril Obeng Darko" userId="effc13ac754df4a2" providerId="LiveId" clId="{93402691-E40A-4722-9DE4-6B0C42A2BD17}" dt="2026-03-07T16:04:44.318" v="8713" actId="1076"/>
          <ac:picMkLst>
            <pc:docMk/>
            <pc:sldMk cId="2869630543" sldId="415"/>
            <ac:picMk id="6" creationId="{0572C4B3-C7B1-8742-8B79-B97B2AA4CAA3}"/>
          </ac:picMkLst>
        </pc:picChg>
        <pc:picChg chg="add mod ord">
          <ac:chgData name="Cyril Obeng Darko" userId="effc13ac754df4a2" providerId="LiveId" clId="{93402691-E40A-4722-9DE4-6B0C42A2BD17}" dt="2026-03-07T15:55:24.446" v="8624" actId="1076"/>
          <ac:picMkLst>
            <pc:docMk/>
            <pc:sldMk cId="2869630543" sldId="415"/>
            <ac:picMk id="8" creationId="{B6B24F33-96E6-9658-A585-38E134EA9696}"/>
          </ac:picMkLst>
        </pc:picChg>
        <pc:picChg chg="add mod">
          <ac:chgData name="Cyril Obeng Darko" userId="effc13ac754df4a2" providerId="LiveId" clId="{93402691-E40A-4722-9DE4-6B0C42A2BD17}" dt="2026-03-07T16:05:19.624" v="8715" actId="14100"/>
          <ac:picMkLst>
            <pc:docMk/>
            <pc:sldMk cId="2869630543" sldId="415"/>
            <ac:picMk id="10" creationId="{456FDF0D-F0F4-0648-BBDB-90BC4BDE2B5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3/13/2026</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3/11/2026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576248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921-CFBB-DE6F-31EB-81B758CA0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3727777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501160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2994759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4050233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514488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A/B testing store matching involves comparing two methods for linking stores across datasets. The process helps identify the more effective approach by measuring accuracy, consistency, and match rate. Insights from the test guide improvements, ensuring reliable store identification for analytics, reporting, and targeted business strategies.</a:t>
            </a:r>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605337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Define clear objectives and key metrics before running an A/B test to ensure meaningful results. Segment users appropriately and ensure sample size is sufficient for statistical significance. Use a matching method, such as propensity score matching, to balance groups and minimise bias, creating accurate and reliable comparisons between variants.</a:t>
            </a:r>
          </a:p>
        </p:txBody>
      </p:sp>
      <p:sp>
        <p:nvSpPr>
          <p:cNvPr id="4" name="Slide Number Placeholder 3"/>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2433383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A/B testing compares two versions of a web page or product to determine which performs better. It involves dividing users randomly into groups, each experiencing different variants. This method helps businesses make data-driven decisions by analysing user behaviour, leading to improved user engagement and increased conversion rates.</a:t>
            </a:r>
          </a:p>
        </p:txBody>
      </p:sp>
      <p:sp>
        <p:nvSpPr>
          <p:cNvPr id="4" name="Slide Number Placeholder 3"/>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542534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GB"/>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GB"/>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GB"/>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GB"/>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a:lstStyle/>
          <a:p>
            <a:r>
              <a:rPr lang="en-US" dirty="0"/>
              <a:t>QUANTIUM RETAIL ANALYTICS</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Agenda</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a:lstStyle/>
          <a:p>
            <a:pPr lvl="0"/>
            <a:r>
              <a:rPr lang="en-GB" sz="2000" b="0" dirty="0">
                <a:solidFill>
                  <a:schemeClr val="bg1"/>
                </a:solidFill>
              </a:rPr>
              <a:t>Project scope &amp; data overview</a:t>
            </a:r>
            <a:endParaRPr lang="en-US" sz="2000" b="0" dirty="0">
              <a:solidFill>
                <a:schemeClr val="bg1"/>
              </a:solidFill>
            </a:endParaRPr>
          </a:p>
          <a:p>
            <a:pPr lvl="0"/>
            <a:r>
              <a:rPr lang="en-GB" sz="2000" b="0" dirty="0">
                <a:solidFill>
                  <a:schemeClr val="bg1"/>
                </a:solidFill>
              </a:rPr>
              <a:t>Sales and store performance insights</a:t>
            </a:r>
            <a:endParaRPr lang="en-US" sz="2000" b="0" dirty="0">
              <a:solidFill>
                <a:schemeClr val="bg1"/>
              </a:solidFill>
            </a:endParaRPr>
          </a:p>
          <a:p>
            <a:pPr lvl="0"/>
            <a:r>
              <a:rPr lang="en-GB" sz="2000" b="0" dirty="0">
                <a:solidFill>
                  <a:schemeClr val="bg1"/>
                </a:solidFill>
              </a:rPr>
              <a:t>Product and customer analysis</a:t>
            </a:r>
            <a:endParaRPr lang="en-US" sz="2000" b="0" dirty="0">
              <a:solidFill>
                <a:schemeClr val="bg1"/>
              </a:solidFill>
            </a:endParaRPr>
          </a:p>
          <a:p>
            <a:pPr lvl="0"/>
            <a:r>
              <a:rPr lang="en-GB" sz="2000" b="0" dirty="0">
                <a:solidFill>
                  <a:schemeClr val="bg1"/>
                </a:solidFill>
              </a:rPr>
              <a:t>RFM segmentation</a:t>
            </a:r>
          </a:p>
          <a:p>
            <a:r>
              <a:rPr lang="en-US" sz="2000" b="0" dirty="0">
                <a:solidFill>
                  <a:schemeClr val="bg1"/>
                </a:solidFill>
              </a:rPr>
              <a:t>A / B testing</a:t>
            </a:r>
          </a:p>
          <a:p>
            <a:r>
              <a:rPr lang="en-US" sz="2000" b="0" dirty="0">
                <a:solidFill>
                  <a:schemeClr val="bg1"/>
                </a:solidFill>
              </a:rPr>
              <a:t>Recommendations</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8CE60-587E-1D5C-8B50-ED3441BA49CE}"/>
              </a:ext>
            </a:extLst>
          </p:cNvPr>
          <p:cNvSpPr>
            <a:spLocks noGrp="1"/>
          </p:cNvSpPr>
          <p:nvPr>
            <p:ph type="ctrTitle"/>
          </p:nvPr>
        </p:nvSpPr>
        <p:spPr>
          <a:xfrm>
            <a:off x="179109" y="1"/>
            <a:ext cx="5137608" cy="2275646"/>
          </a:xfrm>
        </p:spPr>
        <p:txBody>
          <a:bodyPr/>
          <a:lstStyle/>
          <a:p>
            <a:pPr lvl="0"/>
            <a:r>
              <a:rPr lang="en-GB" dirty="0"/>
              <a:t>Project scope &amp; data overview</a:t>
            </a:r>
            <a:endParaRPr lang="en-US" dirty="0"/>
          </a:p>
        </p:txBody>
      </p:sp>
      <p:pic>
        <p:nvPicPr>
          <p:cNvPr id="12" name="Picture Placeholder 4" descr="A close-up of a wood grain">
            <a:extLst>
              <a:ext uri="{FF2B5EF4-FFF2-40B4-BE49-F238E27FC236}">
                <a16:creationId xmlns:a16="http://schemas.microsoft.com/office/drawing/2014/main" id="{7D5BDB53-9169-3BBC-9362-0539514AC7DD}"/>
              </a:ext>
            </a:extLst>
          </p:cNvPr>
          <p:cNvPicPr>
            <a:picLocks noGrp="1" noChangeAspect="1"/>
          </p:cNvPicPr>
          <p:nvPr>
            <p:ph type="pic" sz="quarter" idx="12"/>
          </p:nvPr>
        </p:nvPicPr>
        <p:blipFill rotWithShape="1">
          <a:blip r:embed="rId3">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val="0"/>
              </a:ext>
            </a:extLst>
          </a:blip>
          <a:srcRect/>
          <a:stretch/>
        </p:blipFill>
        <p:spPr>
          <a:xfrm>
            <a:off x="179109" y="2369957"/>
            <a:ext cx="5486400" cy="1934225"/>
          </a:xfrm>
        </p:spPr>
      </p:pic>
      <p:sp>
        <p:nvSpPr>
          <p:cNvPr id="3" name="Text Placeholder 2">
            <a:extLst>
              <a:ext uri="{FF2B5EF4-FFF2-40B4-BE49-F238E27FC236}">
                <a16:creationId xmlns:a16="http://schemas.microsoft.com/office/drawing/2014/main" id="{0E02AE9C-BA1D-195E-3B93-A5A0CC03D8F3}"/>
              </a:ext>
            </a:extLst>
          </p:cNvPr>
          <p:cNvSpPr>
            <a:spLocks noGrp="1"/>
          </p:cNvSpPr>
          <p:nvPr>
            <p:ph type="body" sz="quarter" idx="11"/>
          </p:nvPr>
        </p:nvSpPr>
        <p:spPr>
          <a:xfrm>
            <a:off x="6299835" y="4304182"/>
            <a:ext cx="5486400" cy="2351142"/>
          </a:xfrm>
        </p:spPr>
        <p:txBody>
          <a:bodyPr/>
          <a:lstStyle/>
          <a:p>
            <a:r>
              <a:rPr lang="en-US" dirty="0"/>
              <a:t>Values</a:t>
            </a:r>
          </a:p>
          <a:p>
            <a:pPr marL="342900" indent="-342900">
              <a:buFont typeface="Arial" panose="020B0604020202020204" pitchFamily="34" charset="0"/>
              <a:buChar char="•"/>
            </a:pPr>
            <a:r>
              <a:rPr lang="en-GB" sz="2000" b="0" dirty="0">
                <a:solidFill>
                  <a:schemeClr val="bg1"/>
                </a:solidFill>
              </a:rPr>
              <a:t>More effective pricing strategies by understanding price sensitivity across different customer segments</a:t>
            </a:r>
          </a:p>
          <a:p>
            <a:pPr marL="342900" indent="-342900">
              <a:buFont typeface="Arial" panose="020B0604020202020204" pitchFamily="34" charset="0"/>
              <a:buChar char="•"/>
            </a:pPr>
            <a:r>
              <a:rPr lang="en-GB" sz="2000" b="0" dirty="0">
                <a:solidFill>
                  <a:schemeClr val="bg1"/>
                </a:solidFill>
              </a:rPr>
              <a:t>Targeted promotions that focus on high-value and high-frequency customers, to increase sales and revenue.</a:t>
            </a:r>
            <a:endParaRPr lang="en-US" sz="2000" b="0" dirty="0">
              <a:solidFill>
                <a:schemeClr val="bg1"/>
              </a:solidFill>
            </a:endParaRPr>
          </a:p>
        </p:txBody>
      </p:sp>
      <p:sp>
        <p:nvSpPr>
          <p:cNvPr id="8" name="Text Placeholder 2">
            <a:extLst>
              <a:ext uri="{FF2B5EF4-FFF2-40B4-BE49-F238E27FC236}">
                <a16:creationId xmlns:a16="http://schemas.microsoft.com/office/drawing/2014/main" id="{07AFF3BE-9D53-1565-1F04-1A1AFA241411}"/>
              </a:ext>
            </a:extLst>
          </p:cNvPr>
          <p:cNvSpPr txBox="1">
            <a:spLocks/>
          </p:cNvSpPr>
          <p:nvPr/>
        </p:nvSpPr>
        <p:spPr>
          <a:xfrm>
            <a:off x="179109" y="4347447"/>
            <a:ext cx="5486400" cy="212328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tx2">
                    <a:lumMod val="75000"/>
                  </a:schemeClr>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Problem</a:t>
            </a:r>
          </a:p>
          <a:p>
            <a:r>
              <a:rPr lang="en-GB" sz="2000" b="0" dirty="0">
                <a:solidFill>
                  <a:schemeClr val="bg1"/>
                </a:solidFill>
              </a:rPr>
              <a:t>A category manager responsible for the chips portfolio seeks to gain a deeper understanding of the different customer segments that purchase chips and their associated purchasing behaviours</a:t>
            </a:r>
            <a:r>
              <a:rPr lang="en-GB" dirty="0"/>
              <a:t>.</a:t>
            </a:r>
            <a:endParaRPr lang="en-US" dirty="0"/>
          </a:p>
        </p:txBody>
      </p:sp>
      <p:sp>
        <p:nvSpPr>
          <p:cNvPr id="9" name="Text Placeholder 2">
            <a:extLst>
              <a:ext uri="{FF2B5EF4-FFF2-40B4-BE49-F238E27FC236}">
                <a16:creationId xmlns:a16="http://schemas.microsoft.com/office/drawing/2014/main" id="{9E8160B6-0000-3AEC-18A4-E18E0A0F210A}"/>
              </a:ext>
            </a:extLst>
          </p:cNvPr>
          <p:cNvSpPr txBox="1">
            <a:spLocks/>
          </p:cNvSpPr>
          <p:nvPr/>
        </p:nvSpPr>
        <p:spPr>
          <a:xfrm>
            <a:off x="6781015" y="202676"/>
            <a:ext cx="5231876" cy="3888557"/>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tx2">
                    <a:lumMod val="75000"/>
                  </a:schemeClr>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Solutions</a:t>
            </a:r>
          </a:p>
          <a:p>
            <a:r>
              <a:rPr lang="en-US" sz="2000" b="0" dirty="0">
                <a:solidFill>
                  <a:schemeClr val="bg1"/>
                </a:solidFill>
              </a:rPr>
              <a:t>The retail analytics team utilized python and SQL to analyze transaction and customer data and: </a:t>
            </a:r>
          </a:p>
          <a:p>
            <a:pPr marL="342900" indent="-342900">
              <a:buFont typeface="Arial" panose="020B0604020202020204" pitchFamily="34" charset="0"/>
              <a:buChar char="•"/>
            </a:pPr>
            <a:r>
              <a:rPr lang="en-US" sz="2000" b="0" dirty="0">
                <a:solidFill>
                  <a:schemeClr val="bg1"/>
                </a:solidFill>
              </a:rPr>
              <a:t>identified customer segments based on purchase behavior</a:t>
            </a:r>
          </a:p>
          <a:p>
            <a:pPr marL="342900" indent="-342900">
              <a:buFont typeface="Arial" panose="020B0604020202020204" pitchFamily="34" charset="0"/>
              <a:buChar char="•"/>
            </a:pPr>
            <a:r>
              <a:rPr lang="en-US" sz="2000" b="0" dirty="0">
                <a:solidFill>
                  <a:schemeClr val="bg1"/>
                </a:solidFill>
              </a:rPr>
              <a:t>Visualized data insights using matplotlib</a:t>
            </a:r>
          </a:p>
          <a:p>
            <a:pPr marL="342900" indent="-342900">
              <a:buFont typeface="Arial" panose="020B0604020202020204" pitchFamily="34" charset="0"/>
              <a:buChar char="•"/>
            </a:pPr>
            <a:r>
              <a:rPr lang="en-US" b="0" dirty="0">
                <a:solidFill>
                  <a:schemeClr val="bg1"/>
                </a:solidFill>
              </a:rPr>
              <a:t> </a:t>
            </a:r>
            <a:r>
              <a:rPr lang="en-GB" sz="2000" b="0" dirty="0">
                <a:solidFill>
                  <a:schemeClr val="bg1"/>
                </a:solidFill>
              </a:rPr>
              <a:t>These insights were used to make  data-driven decisions related to product  pricing, promotions, and targeted marketing strategies to drive category growth and increase revenue.</a:t>
            </a:r>
            <a:endParaRPr lang="en-US" sz="2000" b="0" dirty="0">
              <a:solidFill>
                <a:schemeClr val="bg1"/>
              </a:solidFill>
            </a:endParaRPr>
          </a:p>
        </p:txBody>
      </p:sp>
    </p:spTree>
    <p:extLst>
      <p:ext uri="{BB962C8B-B14F-4D97-AF65-F5344CB8AC3E}">
        <p14:creationId xmlns:p14="http://schemas.microsoft.com/office/powerpoint/2010/main" val="144087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66080" y="102875"/>
            <a:ext cx="10873740" cy="1680205"/>
          </a:xfrm>
        </p:spPr>
        <p:txBody>
          <a:bodyPr/>
          <a:lstStyle/>
          <a:p>
            <a:r>
              <a:rPr lang="en-US" dirty="0"/>
              <a:t>Sales and Performance Insights</a:t>
            </a:r>
            <a:br>
              <a:rPr lang="en-US" dirty="0"/>
            </a:br>
            <a:br>
              <a:rPr lang="en-US" dirty="0"/>
            </a:br>
            <a:r>
              <a:rPr lang="en-US" dirty="0"/>
              <a:t>Overall Financial Trend</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6095999" y="1783079"/>
            <a:ext cx="5816113" cy="4972045"/>
          </a:xfrm>
        </p:spPr>
        <p:txBody>
          <a:bodyPr>
            <a:normAutofit fontScale="92500" lnSpcReduction="20000"/>
          </a:bodyPr>
          <a:lstStyle/>
          <a:p>
            <a:r>
              <a:rPr lang="en-GB" dirty="0"/>
              <a:t>Sales remained </a:t>
            </a:r>
            <a:r>
              <a:rPr lang="en-GB" b="1" dirty="0"/>
              <a:t>fairly stable</a:t>
            </a:r>
            <a:r>
              <a:rPr lang="en-GB" dirty="0"/>
              <a:t> over the period, with the highest sale at </a:t>
            </a:r>
            <a:r>
              <a:rPr lang="en-GB" b="1" dirty="0"/>
              <a:t>$156,461 </a:t>
            </a:r>
            <a:r>
              <a:rPr lang="en-GB" dirty="0"/>
              <a:t>and  an average total sale of </a:t>
            </a:r>
            <a:r>
              <a:rPr lang="en-GB" b="1" dirty="0"/>
              <a:t>$150k</a:t>
            </a:r>
            <a:r>
              <a:rPr lang="en-GB" dirty="0"/>
              <a:t>.</a:t>
            </a:r>
          </a:p>
          <a:p>
            <a:r>
              <a:rPr lang="en-GB" dirty="0"/>
              <a:t>Month-to-month fluctuations are evident, including a </a:t>
            </a:r>
            <a:r>
              <a:rPr lang="en-GB" b="1" dirty="0"/>
              <a:t>temporary dip in February</a:t>
            </a:r>
            <a:r>
              <a:rPr lang="en-GB" dirty="0"/>
              <a:t> with a sale of </a:t>
            </a:r>
            <a:r>
              <a:rPr lang="en-GB" b="1" dirty="0"/>
              <a:t>$140,480 </a:t>
            </a:r>
            <a:r>
              <a:rPr lang="en-GB" dirty="0"/>
              <a:t>followed by a </a:t>
            </a:r>
            <a:r>
              <a:rPr lang="en-GB" b="1" dirty="0"/>
              <a:t>strong recovery in March</a:t>
            </a:r>
            <a:r>
              <a:rPr lang="en-GB" dirty="0"/>
              <a:t>, suggesting short-term volatility rather than structural decline.</a:t>
            </a:r>
            <a:endParaRPr lang="en-US" dirty="0"/>
          </a:p>
          <a:p>
            <a:r>
              <a:rPr lang="en-US" dirty="0"/>
              <a:t>The spike in </a:t>
            </a:r>
            <a:r>
              <a:rPr lang="en-US" b="1" dirty="0"/>
              <a:t>December</a:t>
            </a:r>
            <a:r>
              <a:rPr lang="en-US" dirty="0"/>
              <a:t> was due to Christmas period where customers shop more than their usual shopping for the </a:t>
            </a:r>
            <a:r>
              <a:rPr lang="en-US" b="1" dirty="0"/>
              <a:t>festive season</a:t>
            </a:r>
            <a:r>
              <a:rPr lang="en-US" dirty="0"/>
              <a:t>.</a:t>
            </a:r>
          </a:p>
          <a:p>
            <a:r>
              <a:rPr lang="en-US" dirty="0"/>
              <a:t>The </a:t>
            </a:r>
            <a:r>
              <a:rPr lang="en-US" b="1" dirty="0"/>
              <a:t>10.89%</a:t>
            </a:r>
            <a:r>
              <a:rPr lang="en-US" dirty="0"/>
              <a:t> of MoM sales in March shows how effective the initiative or marketing strategy was, with a </a:t>
            </a:r>
            <a:r>
              <a:rPr lang="en-US" b="1" dirty="0"/>
              <a:t>-7.33% in February </a:t>
            </a:r>
            <a:r>
              <a:rPr lang="en-US" dirty="0"/>
              <a:t>before the initiative.</a:t>
            </a:r>
          </a:p>
          <a:p>
            <a:r>
              <a:rPr lang="en-US" dirty="0"/>
              <a:t>The overall financial trend shows that </a:t>
            </a:r>
            <a:r>
              <a:rPr lang="en-US" b="1" dirty="0"/>
              <a:t>sales were very volatile </a:t>
            </a:r>
            <a:r>
              <a:rPr lang="en-US" dirty="0"/>
              <a:t>with a </a:t>
            </a:r>
            <a:r>
              <a:rPr lang="en-US" b="1" dirty="0"/>
              <a:t>temporary surge in March </a:t>
            </a:r>
            <a:r>
              <a:rPr lang="en-US" dirty="0"/>
              <a:t>showing that sales are driven by </a:t>
            </a:r>
            <a:r>
              <a:rPr lang="en-US" b="1" dirty="0"/>
              <a:t>short-term drivers </a:t>
            </a:r>
            <a:r>
              <a:rPr lang="en-US" dirty="0"/>
              <a:t>such as </a:t>
            </a:r>
            <a:r>
              <a:rPr lang="en-US" b="1" dirty="0"/>
              <a:t>promotions or seasonality</a:t>
            </a:r>
            <a:r>
              <a:rPr lang="en-US" dirty="0"/>
              <a:t>.</a:t>
            </a:r>
          </a:p>
          <a:p>
            <a:endParaRPr lang="en-US" dirty="0"/>
          </a:p>
          <a:p>
            <a:endParaRPr lang="en-US" dirty="0"/>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5" name="Picture 4">
            <a:extLst>
              <a:ext uri="{FF2B5EF4-FFF2-40B4-BE49-F238E27FC236}">
                <a16:creationId xmlns:a16="http://schemas.microsoft.com/office/drawing/2014/main" id="{9DB72389-71FD-3A12-DC4D-41691584CE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51217"/>
            <a:ext cx="5986021" cy="3305636"/>
          </a:xfrm>
          <a:prstGeom prst="rect">
            <a:avLst/>
          </a:prstGeom>
        </p:spPr>
      </p:pic>
    </p:spTree>
    <p:extLst>
      <p:ext uri="{BB962C8B-B14F-4D97-AF65-F5344CB8AC3E}">
        <p14:creationId xmlns:p14="http://schemas.microsoft.com/office/powerpoint/2010/main" val="320031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AB6D40A-2A0A-AF3D-8CF7-3ECD37765637}"/>
              </a:ext>
            </a:extLst>
          </p:cNvPr>
          <p:cNvSpPr>
            <a:spLocks noGrp="1"/>
          </p:cNvSpPr>
          <p:nvPr>
            <p:ph type="ctrTitle"/>
          </p:nvPr>
        </p:nvSpPr>
        <p:spPr>
          <a:xfrm>
            <a:off x="3007151" y="172508"/>
            <a:ext cx="8459215" cy="2812488"/>
          </a:xfrm>
        </p:spPr>
        <p:txBody>
          <a:bodyPr/>
          <a:lstStyle/>
          <a:p>
            <a:r>
              <a:rPr lang="en-US" dirty="0"/>
              <a:t>Customer Purchasing Behavior Overview</a:t>
            </a:r>
          </a:p>
        </p:txBody>
      </p:sp>
      <p:sp>
        <p:nvSpPr>
          <p:cNvPr id="3" name="Text Placeholder 2">
            <a:extLst>
              <a:ext uri="{FF2B5EF4-FFF2-40B4-BE49-F238E27FC236}">
                <a16:creationId xmlns:a16="http://schemas.microsoft.com/office/drawing/2014/main" id="{591442CD-A26D-1761-8CE7-8BC3075BB4ED}"/>
              </a:ext>
            </a:extLst>
          </p:cNvPr>
          <p:cNvSpPr>
            <a:spLocks noGrp="1"/>
          </p:cNvSpPr>
          <p:nvPr>
            <p:ph type="body" sz="quarter" idx="11"/>
          </p:nvPr>
        </p:nvSpPr>
        <p:spPr>
          <a:xfrm>
            <a:off x="6095999" y="4110086"/>
            <a:ext cx="5370367" cy="2394409"/>
          </a:xfrm>
        </p:spPr>
        <p:txBody>
          <a:bodyPr>
            <a:normAutofit fontScale="92500" lnSpcReduction="10000"/>
          </a:bodyPr>
          <a:lstStyle/>
          <a:p>
            <a:pPr marL="342900" indent="-342900">
              <a:buFont typeface="Arial" panose="020B0604020202020204" pitchFamily="34" charset="0"/>
              <a:buChar char="•"/>
            </a:pPr>
            <a:r>
              <a:rPr lang="en-GB" sz="2200" b="0" dirty="0">
                <a:solidFill>
                  <a:schemeClr val="bg1"/>
                </a:solidFill>
              </a:rPr>
              <a:t>Average Sales per Transaction: Approximately $7.32 per transaction</a:t>
            </a:r>
          </a:p>
          <a:p>
            <a:pPr marL="342900" indent="-342900">
              <a:buFont typeface="Arial" panose="020B0604020202020204" pitchFamily="34" charset="0"/>
              <a:buChar char="•"/>
            </a:pPr>
            <a:r>
              <a:rPr lang="en-GB" sz="2200" b="0" dirty="0">
                <a:solidFill>
                  <a:schemeClr val="bg1"/>
                </a:solidFill>
              </a:rPr>
              <a:t>Average Quantity per Transaction: 1.91 units, equivalent to roughly 2 packs</a:t>
            </a:r>
          </a:p>
          <a:p>
            <a:pPr marL="342900" indent="-342900">
              <a:buFont typeface="Arial" panose="020B0604020202020204" pitchFamily="34" charset="0"/>
              <a:buChar char="•"/>
            </a:pPr>
            <a:r>
              <a:rPr lang="en-GB" sz="2200" b="0" dirty="0">
                <a:solidFill>
                  <a:schemeClr val="bg1"/>
                </a:solidFill>
              </a:rPr>
              <a:t>One-Time Customers: 19,570 customers with an average spend of $6.45 per transaction</a:t>
            </a:r>
          </a:p>
          <a:p>
            <a:pPr marL="342900" indent="-342900">
              <a:buFont typeface="Arial" panose="020B0604020202020204" pitchFamily="34" charset="0"/>
              <a:buChar char="•"/>
            </a:pPr>
            <a:r>
              <a:rPr lang="en-GB" sz="2200" b="0" dirty="0">
                <a:solidFill>
                  <a:schemeClr val="bg1"/>
                </a:solidFill>
              </a:rPr>
              <a:t>Repeat Customers: 51,717 customers with a significantly higher average spend of $32.46</a:t>
            </a:r>
          </a:p>
          <a:p>
            <a:endParaRPr lang="en-US" dirty="0"/>
          </a:p>
        </p:txBody>
      </p:sp>
    </p:spTree>
    <p:extLst>
      <p:ext uri="{BB962C8B-B14F-4D97-AF65-F5344CB8AC3E}">
        <p14:creationId xmlns:p14="http://schemas.microsoft.com/office/powerpoint/2010/main" val="2039059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179554"/>
            <a:ext cx="10972800" cy="1574317"/>
          </a:xfrm>
        </p:spPr>
        <p:txBody>
          <a:bodyPr anchor="b">
            <a:normAutofit/>
          </a:bodyPr>
          <a:lstStyle/>
          <a:p>
            <a:r>
              <a:rPr lang="en-US" dirty="0"/>
              <a:t>Product Analysis</a:t>
            </a:r>
          </a:p>
        </p:txBody>
      </p:sp>
      <p:pic>
        <p:nvPicPr>
          <p:cNvPr id="12" name="Content Placeholder 11" descr="A graph of blue rectangular objects&#10;&#10;AI-generated content may be incorrect.">
            <a:extLst>
              <a:ext uri="{FF2B5EF4-FFF2-40B4-BE49-F238E27FC236}">
                <a16:creationId xmlns:a16="http://schemas.microsoft.com/office/drawing/2014/main" id="{747736FA-4D8A-FD08-32C6-9BCA553AF34A}"/>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95523" y="2973922"/>
            <a:ext cx="5746750" cy="3002676"/>
          </a:xfrm>
          <a:noFill/>
        </p:spPr>
      </p:pic>
      <p:sp>
        <p:nvSpPr>
          <p:cNvPr id="3" name="Content Placeholder 2">
            <a:extLst>
              <a:ext uri="{FF2B5EF4-FFF2-40B4-BE49-F238E27FC236}">
                <a16:creationId xmlns:a16="http://schemas.microsoft.com/office/drawing/2014/main" id="{DB097449-5B72-ADA0-3B2D-1CBC160D6B90}"/>
              </a:ext>
            </a:extLst>
          </p:cNvPr>
          <p:cNvSpPr>
            <a:spLocks noGrp="1"/>
          </p:cNvSpPr>
          <p:nvPr>
            <p:ph sz="quarter" idx="14"/>
          </p:nvPr>
        </p:nvSpPr>
        <p:spPr>
          <a:xfrm>
            <a:off x="7620000" y="2676525"/>
            <a:ext cx="3947160" cy="3597470"/>
          </a:xfrm>
        </p:spPr>
        <p:txBody>
          <a:bodyPr>
            <a:normAutofit fontScale="92500" lnSpcReduction="10000"/>
          </a:bodyPr>
          <a:lstStyle/>
          <a:p>
            <a:pPr marL="342900" indent="-342900">
              <a:buFont typeface="Arial" panose="020B0604020202020204" pitchFamily="34" charset="0"/>
              <a:buChar char="•"/>
            </a:pPr>
            <a:r>
              <a:rPr lang="en-GB" sz="1700" dirty="0"/>
              <a:t>Sales volumes across the top 5 products</a:t>
            </a:r>
          </a:p>
          <a:p>
            <a:r>
              <a:rPr lang="en-GB" sz="1700" b="1" dirty="0"/>
              <a:t>Kettle and Cobs </a:t>
            </a:r>
            <a:r>
              <a:rPr lang="en-GB" sz="1700" dirty="0"/>
              <a:t>products are the most purchased and popular product brands among all the products with </a:t>
            </a:r>
            <a:r>
              <a:rPr lang="en-GB" sz="1700" b="1" dirty="0"/>
              <a:t>kettle</a:t>
            </a:r>
            <a:r>
              <a:rPr lang="en-GB" sz="1700" dirty="0"/>
              <a:t> showing dominant performance in sales contributing </a:t>
            </a:r>
            <a:r>
              <a:rPr lang="en-GB" sz="1700" b="1" dirty="0"/>
              <a:t>64% </a:t>
            </a:r>
            <a:r>
              <a:rPr lang="en-GB" sz="1700" dirty="0"/>
              <a:t> of the total sales of the top 5 performing products.</a:t>
            </a:r>
          </a:p>
          <a:p>
            <a:pPr marL="342900" indent="-342900">
              <a:buFont typeface="Arial" panose="020B0604020202020204" pitchFamily="34" charset="0"/>
              <a:buChar char="•"/>
            </a:pPr>
            <a:r>
              <a:rPr lang="en-GB" sz="1700" b="1" dirty="0"/>
              <a:t>Kettle mozzarella basil &amp; pesto </a:t>
            </a:r>
            <a:r>
              <a:rPr lang="en-GB" sz="1700" dirty="0"/>
              <a:t>is the most bought chip with a total sales of </a:t>
            </a:r>
            <a:r>
              <a:rPr lang="en-GB" sz="1700" b="1" dirty="0"/>
              <a:t>$34K </a:t>
            </a:r>
            <a:r>
              <a:rPr lang="en-GB" sz="1700" dirty="0"/>
              <a:t>showing that it is the most preferred chips brand.</a:t>
            </a:r>
          </a:p>
          <a:p>
            <a:pPr marL="342900" indent="-342900">
              <a:buFont typeface="Arial" panose="020B0604020202020204" pitchFamily="34" charset="0"/>
              <a:buChar char="•"/>
            </a:pPr>
            <a:r>
              <a:rPr lang="en-GB" sz="1700" dirty="0"/>
              <a:t>Henceforth stocking more Kettle brand chips increases revenue</a:t>
            </a:r>
          </a:p>
        </p:txBody>
      </p:sp>
    </p:spTree>
    <p:extLst>
      <p:ext uri="{BB962C8B-B14F-4D97-AF65-F5344CB8AC3E}">
        <p14:creationId xmlns:p14="http://schemas.microsoft.com/office/powerpoint/2010/main" val="888484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594360" y="198408"/>
            <a:ext cx="8406765" cy="1574317"/>
          </a:xfrm>
        </p:spPr>
        <p:txBody>
          <a:bodyPr anchor="b">
            <a:normAutofit/>
          </a:bodyPr>
          <a:lstStyle/>
          <a:p>
            <a:r>
              <a:rPr lang="en-US" dirty="0"/>
              <a:t>Top Performing Stores – Sales Performance Overview  </a:t>
            </a:r>
          </a:p>
        </p:txBody>
      </p:sp>
      <p:sp>
        <p:nvSpPr>
          <p:cNvPr id="3" name="Content Placeholder 2">
            <a:extLst>
              <a:ext uri="{FF2B5EF4-FFF2-40B4-BE49-F238E27FC236}">
                <a16:creationId xmlns:a16="http://schemas.microsoft.com/office/drawing/2014/main" id="{8B599B60-BF79-A832-6AD4-6C6FC6CE4317}"/>
              </a:ext>
            </a:extLst>
          </p:cNvPr>
          <p:cNvSpPr>
            <a:spLocks noGrp="1"/>
          </p:cNvSpPr>
          <p:nvPr>
            <p:ph sz="quarter" idx="13"/>
          </p:nvPr>
        </p:nvSpPr>
        <p:spPr>
          <a:xfrm>
            <a:off x="6096000" y="2168165"/>
            <a:ext cx="5591912" cy="4236716"/>
          </a:xfrm>
        </p:spPr>
        <p:txBody>
          <a:bodyPr>
            <a:noAutofit/>
          </a:bodyPr>
          <a:lstStyle/>
          <a:p>
            <a:pPr marL="285750" indent="-285750">
              <a:buFont typeface="Arial" panose="020B0604020202020204" pitchFamily="34" charset="0"/>
              <a:buChar char="•"/>
            </a:pPr>
            <a:r>
              <a:rPr lang="en-GB" sz="1600" dirty="0"/>
              <a:t>Store </a:t>
            </a:r>
            <a:r>
              <a:rPr lang="en-GB" sz="1600" b="1" dirty="0"/>
              <a:t>226</a:t>
            </a:r>
            <a:r>
              <a:rPr lang="en-GB" sz="1600" dirty="0"/>
              <a:t> is the top contributor, with a total sale of </a:t>
            </a:r>
            <a:r>
              <a:rPr lang="en-GB" sz="1600" b="1" dirty="0"/>
              <a:t>$16.5K </a:t>
            </a:r>
            <a:r>
              <a:rPr lang="en-GB" sz="1600" dirty="0"/>
              <a:t>which is </a:t>
            </a:r>
            <a:r>
              <a:rPr lang="en-GB" sz="1600" b="1" dirty="0"/>
              <a:t>$10K </a:t>
            </a:r>
            <a:r>
              <a:rPr lang="en-GB" sz="1600" dirty="0"/>
              <a:t>more than rest of the top performing stores.</a:t>
            </a:r>
            <a:endParaRPr lang="en-GB" sz="1600" b="1" dirty="0"/>
          </a:p>
          <a:p>
            <a:pPr marL="285750" indent="-285750">
              <a:buFont typeface="Arial" panose="020B0604020202020204" pitchFamily="34" charset="0"/>
              <a:buChar char="•"/>
            </a:pPr>
            <a:r>
              <a:rPr lang="en-GB" sz="1600" dirty="0"/>
              <a:t>Sales across the top 5 stores fall within a relatively narrow range, with the second performing store being just </a:t>
            </a:r>
            <a:r>
              <a:rPr lang="en-GB" sz="1600" b="1" dirty="0"/>
              <a:t>$200 </a:t>
            </a:r>
            <a:r>
              <a:rPr lang="en-GB" sz="1600" dirty="0"/>
              <a:t>higher than the third performing store.</a:t>
            </a:r>
          </a:p>
          <a:p>
            <a:pPr marL="285750" indent="-285750">
              <a:buFont typeface="Arial" panose="020B0604020202020204" pitchFamily="34" charset="0"/>
              <a:buChar char="•"/>
            </a:pPr>
            <a:r>
              <a:rPr lang="en-GB" sz="1600" dirty="0"/>
              <a:t> The fourth and fifth stores shows only a </a:t>
            </a:r>
            <a:r>
              <a:rPr lang="en-GB" sz="1600" b="1" dirty="0"/>
              <a:t>$400 </a:t>
            </a:r>
            <a:r>
              <a:rPr lang="en-GB" sz="1600" dirty="0"/>
              <a:t>difference</a:t>
            </a:r>
            <a:r>
              <a:rPr lang="en-GB" sz="1600" b="1" dirty="0"/>
              <a:t> </a:t>
            </a:r>
            <a:r>
              <a:rPr lang="en-GB" sz="1600" dirty="0"/>
              <a:t>in sales showing closeness in performance. This suggest stable and predictable performance. </a:t>
            </a:r>
          </a:p>
          <a:p>
            <a:pPr marL="285750" indent="-285750">
              <a:buFont typeface="Arial" panose="020B0604020202020204" pitchFamily="34" charset="0"/>
              <a:buChar char="•"/>
            </a:pPr>
            <a:r>
              <a:rPr lang="en-GB" sz="1600" dirty="0"/>
              <a:t>The difference between the most performing store and the fifth performing store is  $</a:t>
            </a:r>
            <a:r>
              <a:rPr lang="en-GB" sz="1600" b="1" dirty="0"/>
              <a:t>1K</a:t>
            </a:r>
            <a:r>
              <a:rPr lang="en-GB" sz="1600" dirty="0"/>
              <a:t>. Showing an incremental gap rather a drastic one.</a:t>
            </a:r>
          </a:p>
          <a:p>
            <a:pPr marL="285750" indent="-285750">
              <a:buFont typeface="Arial" panose="020B0604020202020204" pitchFamily="34" charset="0"/>
              <a:buChar char="•"/>
            </a:pPr>
            <a:r>
              <a:rPr lang="en-GB" sz="1600" dirty="0"/>
              <a:t>Because the differences between stores are small, even small improvements in the mid-performing stores could significantly increase overall revenue.</a:t>
            </a:r>
          </a:p>
        </p:txBody>
      </p:sp>
      <p:pic>
        <p:nvPicPr>
          <p:cNvPr id="5" name="Picture 4" descr="A graph of sales">
            <a:extLst>
              <a:ext uri="{FF2B5EF4-FFF2-40B4-BE49-F238E27FC236}">
                <a16:creationId xmlns:a16="http://schemas.microsoft.com/office/drawing/2014/main" id="{B024E33D-7BF9-170E-CC49-7B5B7AF19D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088" y="2864561"/>
            <a:ext cx="4925112" cy="3113372"/>
          </a:xfrm>
          <a:prstGeom prst="rect">
            <a:avLst/>
          </a:prstGeom>
        </p:spPr>
      </p:pic>
    </p:spTree>
    <p:extLst>
      <p:ext uri="{BB962C8B-B14F-4D97-AF65-F5344CB8AC3E}">
        <p14:creationId xmlns:p14="http://schemas.microsoft.com/office/powerpoint/2010/main" val="3088225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A871D-B15E-C971-7C85-0AF173E38781}"/>
              </a:ext>
            </a:extLst>
          </p:cNvPr>
          <p:cNvSpPr>
            <a:spLocks noGrp="1"/>
          </p:cNvSpPr>
          <p:nvPr>
            <p:ph type="title"/>
          </p:nvPr>
        </p:nvSpPr>
        <p:spPr>
          <a:xfrm>
            <a:off x="575310" y="278129"/>
            <a:ext cx="5063490" cy="2354026"/>
          </a:xfrm>
        </p:spPr>
        <p:txBody>
          <a:bodyPr/>
          <a:lstStyle/>
          <a:p>
            <a:r>
              <a:rPr lang="en-US" dirty="0"/>
              <a:t>RFM Analysis</a:t>
            </a:r>
          </a:p>
        </p:txBody>
      </p:sp>
      <p:sp>
        <p:nvSpPr>
          <p:cNvPr id="3" name="Content Placeholder 2">
            <a:extLst>
              <a:ext uri="{FF2B5EF4-FFF2-40B4-BE49-F238E27FC236}">
                <a16:creationId xmlns:a16="http://schemas.microsoft.com/office/drawing/2014/main" id="{34F2E863-4A4C-76FE-444A-083F93043389}"/>
              </a:ext>
            </a:extLst>
          </p:cNvPr>
          <p:cNvSpPr>
            <a:spLocks noGrp="1"/>
          </p:cNvSpPr>
          <p:nvPr>
            <p:ph sz="quarter" idx="16"/>
          </p:nvPr>
        </p:nvSpPr>
        <p:spPr>
          <a:xfrm>
            <a:off x="593725" y="3279775"/>
            <a:ext cx="5045075" cy="2994025"/>
          </a:xfrm>
        </p:spPr>
        <p:txBody>
          <a:bodyPr>
            <a:normAutofit lnSpcReduction="10000"/>
          </a:bodyPr>
          <a:lstStyle/>
          <a:p>
            <a:r>
              <a:rPr lang="en-GB" b="1" dirty="0"/>
              <a:t>Recency (R):</a:t>
            </a:r>
            <a:r>
              <a:rPr lang="en-GB" dirty="0"/>
              <a:t> Measures how recently a customer made a purchase</a:t>
            </a:r>
          </a:p>
          <a:p>
            <a:r>
              <a:rPr lang="en-GB" b="1" dirty="0"/>
              <a:t>Frequency (F):</a:t>
            </a:r>
            <a:r>
              <a:rPr lang="en-GB" dirty="0"/>
              <a:t> Measures how often a customer makes purchases over a given period.</a:t>
            </a:r>
          </a:p>
          <a:p>
            <a:r>
              <a:rPr lang="en-GB" b="1" dirty="0"/>
              <a:t>Monetary (M):</a:t>
            </a:r>
            <a:r>
              <a:rPr lang="en-GB" dirty="0"/>
              <a:t> Measures the total value of a customer’s purchases.</a:t>
            </a:r>
          </a:p>
          <a:p>
            <a:r>
              <a:rPr lang="en-GB" b="1" dirty="0"/>
              <a:t>Purpose:</a:t>
            </a:r>
            <a:r>
              <a:rPr lang="en-GB" dirty="0"/>
              <a:t> Helps segment customers based on purchasing behaviour</a:t>
            </a:r>
          </a:p>
          <a:p>
            <a:endParaRPr lang="en-GB" dirty="0"/>
          </a:p>
          <a:p>
            <a:endParaRPr lang="en-US" dirty="0"/>
          </a:p>
          <a:p>
            <a:endParaRPr lang="en-US" dirty="0"/>
          </a:p>
          <a:p>
            <a:endParaRPr lang="en-US" dirty="0"/>
          </a:p>
        </p:txBody>
      </p:sp>
      <p:sp>
        <p:nvSpPr>
          <p:cNvPr id="4" name="Content Placeholder 2">
            <a:extLst>
              <a:ext uri="{FF2B5EF4-FFF2-40B4-BE49-F238E27FC236}">
                <a16:creationId xmlns:a16="http://schemas.microsoft.com/office/drawing/2014/main" id="{D69E6B09-3E23-F4F0-7C1F-AF84B265DB68}"/>
              </a:ext>
            </a:extLst>
          </p:cNvPr>
          <p:cNvSpPr txBox="1">
            <a:spLocks/>
          </p:cNvSpPr>
          <p:nvPr/>
        </p:nvSpPr>
        <p:spPr>
          <a:xfrm>
            <a:off x="6096001" y="3429000"/>
            <a:ext cx="5257014" cy="2994025"/>
          </a:xfrm>
          <a:prstGeom prst="rect">
            <a:avLst/>
          </a:prstGeom>
        </p:spPr>
        <p:txBody>
          <a:bodyPr vert="horz" lIns="0" tIns="228600" rIns="0" bIns="0" rtlCol="0">
            <a:normAutofit fontScale="85000" lnSpcReduction="10000"/>
          </a:bodyPr>
          <a:lstStyle>
            <a:lvl1pPr marL="0" indent="0" algn="l" defTabSz="914400" rtl="0" eaLnBrk="1" latinLnBrk="0" hangingPunct="1">
              <a:lnSpc>
                <a:spcPct val="90000"/>
              </a:lnSpc>
              <a:spcBef>
                <a:spcPts val="1800"/>
              </a:spcBef>
              <a:buFont typeface="Arial" panose="020B0604020202020204" pitchFamily="34" charset="0"/>
              <a:buNone/>
              <a:defRP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2">
                    <a:lumMod val="75000"/>
                  </a:schemeClr>
                </a:solidFill>
              </a:rPr>
              <a:t>Applications:</a:t>
            </a:r>
          </a:p>
          <a:p>
            <a:pPr marL="342900" indent="-342900">
              <a:buFont typeface="Arial" panose="020B0604020202020204" pitchFamily="34" charset="0"/>
              <a:buChar char="•"/>
            </a:pPr>
            <a:r>
              <a:rPr lang="en-GB" dirty="0"/>
              <a:t>Helps identify loyal customers vs at-risk customers</a:t>
            </a:r>
          </a:p>
          <a:p>
            <a:pPr marL="342900" indent="-342900">
              <a:buFont typeface="Arial" panose="020B0604020202020204" pitchFamily="34" charset="0"/>
              <a:buChar char="•"/>
            </a:pPr>
            <a:r>
              <a:rPr lang="en-GB" dirty="0"/>
              <a:t>Drives targeted marketing campaigns</a:t>
            </a:r>
          </a:p>
          <a:p>
            <a:pPr marL="342900" indent="-342900">
              <a:buFont typeface="Arial" panose="020B0604020202020204" pitchFamily="34" charset="0"/>
              <a:buChar char="•"/>
            </a:pPr>
            <a:r>
              <a:rPr lang="en-GB" dirty="0"/>
              <a:t>Optimize promotions and retention strategies accordingly</a:t>
            </a:r>
          </a:p>
          <a:p>
            <a:r>
              <a:rPr lang="en-GB" b="1" dirty="0"/>
              <a:t>Outcome: </a:t>
            </a:r>
            <a:r>
              <a:rPr lang="en-GB" dirty="0"/>
              <a:t>RFM enables the chip store to shift from general promotions to data-driven customer targeting, increasing retention and long-term profitability.</a:t>
            </a:r>
          </a:p>
          <a:p>
            <a:endParaRPr lang="en-GB" dirty="0"/>
          </a:p>
          <a:p>
            <a:endParaRPr lang="en-US" dirty="0"/>
          </a:p>
          <a:p>
            <a:endParaRPr lang="en-US" dirty="0"/>
          </a:p>
        </p:txBody>
      </p:sp>
      <p:pic>
        <p:nvPicPr>
          <p:cNvPr id="29" name="Picture Placeholder 28" descr="A diagram of a diagram of a diagram">
            <a:extLst>
              <a:ext uri="{FF2B5EF4-FFF2-40B4-BE49-F238E27FC236}">
                <a16:creationId xmlns:a16="http://schemas.microsoft.com/office/drawing/2014/main" id="{FE2AE25D-3E8F-8393-A0FB-0D54E01D3166}"/>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t="4550" b="4550"/>
          <a:stretch>
            <a:fillRect/>
          </a:stretch>
        </p:blipFill>
        <p:spPr>
          <a:xfrm>
            <a:off x="6096000" y="0"/>
            <a:ext cx="6017443" cy="3279775"/>
          </a:xfrm>
        </p:spPr>
      </p:pic>
    </p:spTree>
    <p:extLst>
      <p:ext uri="{BB962C8B-B14F-4D97-AF65-F5344CB8AC3E}">
        <p14:creationId xmlns:p14="http://schemas.microsoft.com/office/powerpoint/2010/main" val="298364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6A9A9A7-F1D2-237D-AC72-E21A286F0A6F}"/>
              </a:ext>
            </a:extLst>
          </p:cNvPr>
          <p:cNvSpPr>
            <a:spLocks noGrp="1"/>
          </p:cNvSpPr>
          <p:nvPr>
            <p:ph type="title"/>
          </p:nvPr>
        </p:nvSpPr>
        <p:spPr>
          <a:xfrm>
            <a:off x="152400" y="6108569"/>
            <a:ext cx="6333242" cy="541469"/>
          </a:xfrm>
        </p:spPr>
        <p:txBody>
          <a:bodyPr anchor="b">
            <a:normAutofit fontScale="90000"/>
          </a:bodyPr>
          <a:lstStyle/>
          <a:p>
            <a:r>
              <a:rPr lang="en-US" dirty="0"/>
              <a:t>RFM Customer Behavior Analysis</a:t>
            </a:r>
          </a:p>
        </p:txBody>
      </p:sp>
      <p:sp>
        <p:nvSpPr>
          <p:cNvPr id="4" name="Content Placeholder 3">
            <a:extLst>
              <a:ext uri="{FF2B5EF4-FFF2-40B4-BE49-F238E27FC236}">
                <a16:creationId xmlns:a16="http://schemas.microsoft.com/office/drawing/2014/main" id="{CDB14AAA-1F04-769D-E7F0-4F68C8EB9283}"/>
              </a:ext>
            </a:extLst>
          </p:cNvPr>
          <p:cNvSpPr>
            <a:spLocks noGrp="1"/>
          </p:cNvSpPr>
          <p:nvPr>
            <p:ph sz="quarter" idx="14"/>
          </p:nvPr>
        </p:nvSpPr>
        <p:spPr>
          <a:xfrm>
            <a:off x="7013543" y="-103694"/>
            <a:ext cx="4896046" cy="3408478"/>
          </a:xfrm>
        </p:spPr>
        <p:txBody>
          <a:bodyPr>
            <a:noAutofit/>
          </a:bodyPr>
          <a:lstStyle/>
          <a:p>
            <a:pPr marL="285750" indent="-285750">
              <a:buFont typeface="Arial" panose="020B0604020202020204" pitchFamily="34" charset="0"/>
              <a:buChar char="•"/>
            </a:pPr>
            <a:r>
              <a:rPr lang="en-GB" sz="1800" b="1" dirty="0"/>
              <a:t>Loyal Customers and Champions drive the most revenue</a:t>
            </a:r>
            <a:r>
              <a:rPr lang="en-GB" sz="1800" dirty="0"/>
              <a:t>, combining frequent purchases with high spend of over </a:t>
            </a:r>
            <a:r>
              <a:rPr lang="en-GB" sz="1800" b="1" dirty="0"/>
              <a:t>$930K that is 50% of the total revenue </a:t>
            </a:r>
            <a:r>
              <a:rPr lang="en-GB" sz="1800" dirty="0"/>
              <a:t>despite a smaller customer share</a:t>
            </a:r>
            <a:endParaRPr lang="en-US" sz="1800" dirty="0"/>
          </a:p>
          <a:p>
            <a:pPr marL="285750" indent="-285750">
              <a:buFont typeface="Arial" panose="020B0604020202020204" pitchFamily="34" charset="0"/>
              <a:buChar char="•"/>
            </a:pPr>
            <a:r>
              <a:rPr lang="en-GB" sz="1800" b="1" dirty="0"/>
              <a:t>Hibernating and At-Risk segments dominate volume with almost $30K(40%) customers but show low engagement of nearly $400K(30%) in total sales</a:t>
            </a:r>
            <a:r>
              <a:rPr lang="en-GB" sz="1800" dirty="0"/>
              <a:t>, indicating high churn risk</a:t>
            </a:r>
          </a:p>
          <a:p>
            <a:pPr marL="285750" indent="-285750">
              <a:buFont typeface="Arial" panose="020B0604020202020204" pitchFamily="34" charset="0"/>
              <a:buChar char="•"/>
            </a:pPr>
            <a:r>
              <a:rPr lang="en-GB" sz="1800" b="1" dirty="0"/>
              <a:t>Potential Loyalists have the third best revenue contribution of $250K(14%)</a:t>
            </a:r>
            <a:r>
              <a:rPr lang="en-GB" sz="1800" dirty="0"/>
              <a:t>, which can be increased to </a:t>
            </a:r>
            <a:r>
              <a:rPr lang="en-GB" sz="1800" b="1" dirty="0"/>
              <a:t>½ a million dollars </a:t>
            </a:r>
            <a:r>
              <a:rPr lang="en-GB" sz="1800" dirty="0"/>
              <a:t>through targeted offers and marketing strategies to encourage customers to shop more.</a:t>
            </a:r>
          </a:p>
          <a:p>
            <a:pPr marL="285750" indent="-285750">
              <a:buFont typeface="Arial" panose="020B0604020202020204" pitchFamily="34" charset="0"/>
              <a:buChar char="•"/>
            </a:pPr>
            <a:r>
              <a:rPr lang="en-GB" sz="1800" b="1" dirty="0"/>
              <a:t>Promising and new customers are newly engaged and also contributes little to the total revenue of just $20K(1%)</a:t>
            </a:r>
            <a:r>
              <a:rPr lang="en-GB" sz="1800" dirty="0"/>
              <a:t>, requiring onboarding and discounts on second purchases to grow loyalty.</a:t>
            </a:r>
          </a:p>
          <a:p>
            <a:pPr marL="285750" indent="-285750">
              <a:buFont typeface="Arial" panose="020B0604020202020204" pitchFamily="34" charset="0"/>
              <a:buChar char="•"/>
            </a:pPr>
            <a:r>
              <a:rPr lang="en-GB" sz="1800" dirty="0"/>
              <a:t>A small group of customers generates most of the revenue, so focusing on retaining them is more valuable than only trying to attract new customers.</a:t>
            </a:r>
            <a:endParaRPr lang="en-GB" sz="1800" b="1" dirty="0"/>
          </a:p>
        </p:txBody>
      </p:sp>
      <p:pic>
        <p:nvPicPr>
          <p:cNvPr id="23" name="Content Placeholder 22">
            <a:extLst>
              <a:ext uri="{FF2B5EF4-FFF2-40B4-BE49-F238E27FC236}">
                <a16:creationId xmlns:a16="http://schemas.microsoft.com/office/drawing/2014/main" id="{B9732A70-3404-9C1D-BA88-EEE1A87D8D29}"/>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52400" y="207962"/>
            <a:ext cx="6572250" cy="2842627"/>
          </a:xfrm>
          <a:prstGeom prst="rect">
            <a:avLst/>
          </a:prstGeom>
        </p:spPr>
      </p:pic>
      <p:pic>
        <p:nvPicPr>
          <p:cNvPr id="25" name="Picture 24">
            <a:extLst>
              <a:ext uri="{FF2B5EF4-FFF2-40B4-BE49-F238E27FC236}">
                <a16:creationId xmlns:a16="http://schemas.microsoft.com/office/drawing/2014/main" id="{1F1FF454-5EDE-0111-51F0-2635A740E9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 y="3171825"/>
            <a:ext cx="6572250" cy="2305050"/>
          </a:xfrm>
          <a:prstGeom prst="rect">
            <a:avLst/>
          </a:prstGeom>
        </p:spPr>
      </p:pic>
    </p:spTree>
    <p:extLst>
      <p:ext uri="{BB962C8B-B14F-4D97-AF65-F5344CB8AC3E}">
        <p14:creationId xmlns:p14="http://schemas.microsoft.com/office/powerpoint/2010/main" val="4127695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DC4-8B30-98A0-5BAB-C78BA4A4AD55}"/>
              </a:ext>
            </a:extLst>
          </p:cNvPr>
          <p:cNvSpPr>
            <a:spLocks noGrp="1"/>
          </p:cNvSpPr>
          <p:nvPr>
            <p:ph type="title"/>
          </p:nvPr>
        </p:nvSpPr>
        <p:spPr>
          <a:xfrm>
            <a:off x="594360" y="198408"/>
            <a:ext cx="10972800" cy="1574317"/>
          </a:xfrm>
        </p:spPr>
        <p:txBody>
          <a:bodyPr/>
          <a:lstStyle/>
          <a:p>
            <a:r>
              <a:rPr lang="en-US" dirty="0"/>
              <a:t>RFM Bubble Charts</a:t>
            </a:r>
          </a:p>
        </p:txBody>
      </p:sp>
      <p:sp>
        <p:nvSpPr>
          <p:cNvPr id="4" name="Content Placeholder 3">
            <a:extLst>
              <a:ext uri="{FF2B5EF4-FFF2-40B4-BE49-F238E27FC236}">
                <a16:creationId xmlns:a16="http://schemas.microsoft.com/office/drawing/2014/main" id="{43E198AA-251D-4446-30C4-8F2FA7F6A72C}"/>
              </a:ext>
            </a:extLst>
          </p:cNvPr>
          <p:cNvSpPr>
            <a:spLocks noGrp="1"/>
          </p:cNvSpPr>
          <p:nvPr>
            <p:ph sz="quarter" idx="14"/>
          </p:nvPr>
        </p:nvSpPr>
        <p:spPr>
          <a:xfrm>
            <a:off x="6328531" y="198408"/>
            <a:ext cx="4663124" cy="6075587"/>
          </a:xfrm>
        </p:spPr>
        <p:txBody>
          <a:bodyPr>
            <a:noAutofit/>
          </a:bodyPr>
          <a:lstStyle/>
          <a:p>
            <a:r>
              <a:rPr lang="en-GB" sz="1600" b="1" dirty="0"/>
              <a:t>Champions (11%) </a:t>
            </a:r>
            <a:r>
              <a:rPr lang="en-GB" sz="1600" dirty="0"/>
              <a:t>and </a:t>
            </a:r>
            <a:r>
              <a:rPr lang="en-GB" sz="1600" b="1" dirty="0"/>
              <a:t>Loyal Customers (15%) </a:t>
            </a:r>
            <a:r>
              <a:rPr lang="en-GB" sz="1600" dirty="0"/>
              <a:t>together make up only </a:t>
            </a:r>
            <a:r>
              <a:rPr lang="en-GB" sz="1600" b="1" dirty="0"/>
              <a:t>26% of customers</a:t>
            </a:r>
            <a:r>
              <a:rPr lang="en-GB" sz="1600" dirty="0"/>
              <a:t>, yet they have the highest spend </a:t>
            </a:r>
            <a:r>
              <a:rPr lang="en-GB" sz="1600" b="1" dirty="0"/>
              <a:t>(AMV ~$44–$48)</a:t>
            </a:r>
            <a:r>
              <a:rPr lang="en-GB" sz="1600" dirty="0"/>
              <a:t>. This means the business depends heavily on retention rather than constant new acquisition.</a:t>
            </a:r>
            <a:endParaRPr lang="en-GB" sz="1600" b="1" dirty="0"/>
          </a:p>
          <a:p>
            <a:r>
              <a:rPr lang="en-GB" sz="1600" b="1" dirty="0"/>
              <a:t>Hibernating (29%) </a:t>
            </a:r>
            <a:r>
              <a:rPr lang="en-GB" sz="1600" dirty="0"/>
              <a:t>and </a:t>
            </a:r>
            <a:r>
              <a:rPr lang="en-GB" sz="1600" b="1" dirty="0"/>
              <a:t>At-Risk (10%) </a:t>
            </a:r>
            <a:r>
              <a:rPr lang="en-GB" sz="1600" dirty="0"/>
              <a:t>customers represent </a:t>
            </a:r>
            <a:r>
              <a:rPr lang="en-GB" sz="1600" b="1" dirty="0"/>
              <a:t>39% of the customer base</a:t>
            </a:r>
            <a:r>
              <a:rPr lang="en-GB" sz="1600" dirty="0"/>
              <a:t> with low spend of </a:t>
            </a:r>
            <a:r>
              <a:rPr lang="en-GB" sz="1600" b="1" dirty="0"/>
              <a:t>($8–$23 AMV). </a:t>
            </a:r>
            <a:r>
              <a:rPr lang="en-GB" sz="1600" dirty="0"/>
              <a:t>Without intervention, a large portion of historical customers may be permanently lost.</a:t>
            </a:r>
          </a:p>
          <a:p>
            <a:r>
              <a:rPr lang="en-GB" sz="1600" b="1" dirty="0"/>
              <a:t>Potential Loyalists (16%) </a:t>
            </a:r>
            <a:r>
              <a:rPr lang="en-GB" sz="1600" dirty="0"/>
              <a:t>and </a:t>
            </a:r>
            <a:r>
              <a:rPr lang="en-GB" sz="1600" b="1" dirty="0"/>
              <a:t>Need Attention (6%)</a:t>
            </a:r>
            <a:r>
              <a:rPr lang="en-GB" sz="1600" dirty="0"/>
              <a:t> — </a:t>
            </a:r>
            <a:r>
              <a:rPr lang="en-GB" sz="1600" b="1" dirty="0"/>
              <a:t>22% of customers</a:t>
            </a:r>
            <a:r>
              <a:rPr lang="en-GB" sz="1600" dirty="0"/>
              <a:t> — are relatively recent buyers but not yet frequent purchasers. Targeted offers and reminders could realistically move many of them into the Loyal/Champion segment.</a:t>
            </a:r>
          </a:p>
          <a:p>
            <a:r>
              <a:rPr lang="en-GB" sz="1600" dirty="0"/>
              <a:t> </a:t>
            </a:r>
            <a:r>
              <a:rPr lang="en-GB" sz="1600" b="1" dirty="0"/>
              <a:t>New Customers (2%) </a:t>
            </a:r>
            <a:r>
              <a:rPr lang="en-GB" sz="1600" dirty="0"/>
              <a:t>and </a:t>
            </a:r>
            <a:r>
              <a:rPr lang="en-GB" sz="1600" b="1" dirty="0"/>
              <a:t>Promising (3%) </a:t>
            </a:r>
            <a:r>
              <a:rPr lang="en-GB" sz="1600" dirty="0"/>
              <a:t>have the lowest spend </a:t>
            </a:r>
            <a:r>
              <a:rPr lang="en-GB" sz="1600" b="1" dirty="0"/>
              <a:t>($6–$7 AMV). </a:t>
            </a:r>
            <a:r>
              <a:rPr lang="en-GB" sz="1600" dirty="0"/>
              <a:t>This suggests  first-purchase experience is weak; customers are being acquired but not being kept.</a:t>
            </a:r>
          </a:p>
          <a:p>
            <a:r>
              <a:rPr lang="en-GB" sz="1600" dirty="0"/>
              <a:t>Instead of focusing mainly on new customers, the biggest ROI will come from </a:t>
            </a:r>
            <a:r>
              <a:rPr lang="en-GB" sz="1600" b="1" dirty="0"/>
              <a:t>reactivation campaigns for At-Risk/Hibernating customers </a:t>
            </a:r>
            <a:r>
              <a:rPr lang="en-GB" sz="1600" dirty="0"/>
              <a:t>and </a:t>
            </a:r>
            <a:r>
              <a:rPr lang="en-GB" sz="1600" b="1" dirty="0"/>
              <a:t>loyalty rewards for Champions</a:t>
            </a:r>
            <a:r>
              <a:rPr lang="en-GB" sz="1600" dirty="0"/>
              <a:t>, improving behaviour of existing customers impacts a much larger revenue share than acquiring more low-spend buyers.</a:t>
            </a:r>
            <a:endParaRPr lang="en-US" sz="1600" dirty="0"/>
          </a:p>
        </p:txBody>
      </p:sp>
      <p:pic>
        <p:nvPicPr>
          <p:cNvPr id="9" name="Content Placeholder 8" descr="A graph with colorful circles and black text&#10;&#10;AI-generated content may be incorrect.">
            <a:extLst>
              <a:ext uri="{FF2B5EF4-FFF2-40B4-BE49-F238E27FC236}">
                <a16:creationId xmlns:a16="http://schemas.microsoft.com/office/drawing/2014/main" id="{DA22BEB8-D352-271B-8F8A-BF5F9114B5E3}"/>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54845" y="2751921"/>
            <a:ext cx="5865894" cy="3259773"/>
          </a:xfrm>
          <a:prstGeom prst="rect">
            <a:avLst/>
          </a:prstGeom>
        </p:spPr>
      </p:pic>
    </p:spTree>
    <p:extLst>
      <p:ext uri="{BB962C8B-B14F-4D97-AF65-F5344CB8AC3E}">
        <p14:creationId xmlns:p14="http://schemas.microsoft.com/office/powerpoint/2010/main" val="1850768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dirty="0"/>
              <a:t>A/B Testing Pre-setup </a:t>
            </a:r>
          </a:p>
        </p:txBody>
      </p:sp>
      <p:sp>
        <p:nvSpPr>
          <p:cNvPr id="5" name="Table Placeholder 4">
            <a:extLst>
              <a:ext uri="{FF2B5EF4-FFF2-40B4-BE49-F238E27FC236}">
                <a16:creationId xmlns:a16="http://schemas.microsoft.com/office/drawing/2014/main" id="{ED4F7B83-0646-7C48-C406-9CCA60B1FBF3}"/>
              </a:ext>
            </a:extLst>
          </p:cNvPr>
          <p:cNvSpPr>
            <a:spLocks noGrp="1"/>
          </p:cNvSpPr>
          <p:nvPr>
            <p:ph type="tbl" sz="quarter" idx="10"/>
          </p:nvPr>
        </p:nvSpPr>
        <p:spPr>
          <a:xfrm>
            <a:off x="7233285" y="2951580"/>
            <a:ext cx="4491990" cy="3636740"/>
          </a:xfrm>
        </p:spPr>
        <p:txBody>
          <a:bodyPr/>
          <a:lstStyle/>
          <a:p>
            <a:pPr marL="285750" indent="-285750"/>
            <a:r>
              <a:rPr lang="en-GB" sz="1800" dirty="0"/>
              <a:t>Chose control stores that had enough past data before the trial to allow a fair comparison.</a:t>
            </a:r>
          </a:p>
        </p:txBody>
      </p:sp>
      <p:sp>
        <p:nvSpPr>
          <p:cNvPr id="6" name="Table Placeholder 4">
            <a:extLst>
              <a:ext uri="{FF2B5EF4-FFF2-40B4-BE49-F238E27FC236}">
                <a16:creationId xmlns:a16="http://schemas.microsoft.com/office/drawing/2014/main" id="{6C0350B8-DD63-862D-CD15-765C5749A580}"/>
              </a:ext>
            </a:extLst>
          </p:cNvPr>
          <p:cNvSpPr txBox="1">
            <a:spLocks/>
          </p:cNvSpPr>
          <p:nvPr/>
        </p:nvSpPr>
        <p:spPr>
          <a:xfrm>
            <a:off x="381471" y="2637255"/>
            <a:ext cx="6386974" cy="3636740"/>
          </a:xfrm>
          <a:prstGeom prst="rect">
            <a:avLst/>
          </a:prstGeom>
        </p:spPr>
        <p:txBody>
          <a:bodyPr vert="horz" lIns="91440" tIns="45720" rIns="91440" bIns="45720" rtlCol="0">
            <a:noAutofit/>
          </a:bodyPr>
          <a:lst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chemeClr val="tx2">
                    <a:lumMod val="75000"/>
                  </a:schemeClr>
                </a:solidFill>
              </a:rPr>
              <a:t>Pre-setup</a:t>
            </a:r>
            <a:r>
              <a:rPr lang="en-GB" dirty="0"/>
              <a:t> </a:t>
            </a:r>
          </a:p>
          <a:p>
            <a:r>
              <a:rPr lang="en-GB" sz="1800" dirty="0"/>
              <a:t>Clearly defined the trial setup by selecting the trial stores, setting the </a:t>
            </a:r>
            <a:r>
              <a:rPr lang="en-GB" sz="1800" b="1" dirty="0"/>
              <a:t>trial period (Feb–Apr 2019), </a:t>
            </a:r>
            <a:r>
              <a:rPr lang="en-GB" sz="1800" dirty="0"/>
              <a:t>and choosing a pre-trial period to allow a fair comparison.</a:t>
            </a:r>
          </a:p>
          <a:p>
            <a:r>
              <a:rPr lang="en-GB" sz="1800" dirty="0"/>
              <a:t>Created a YEARMONTH variable so all stores could be analysed consistently at a monthly level.</a:t>
            </a:r>
          </a:p>
          <a:p>
            <a:r>
              <a:rPr lang="en-GB" sz="1800" dirty="0"/>
              <a:t>Calculated key performance metrics over time, such as </a:t>
            </a:r>
            <a:r>
              <a:rPr lang="en-GB" sz="1800" b="1" dirty="0"/>
              <a:t>total sales, number of customers, transactions per customer, chips per transaction, and average price per unit.</a:t>
            </a:r>
          </a:p>
          <a:p>
            <a:r>
              <a:rPr lang="en-GB" sz="1800" dirty="0"/>
              <a:t>Kept only stores with complete data(full pre-trial and trial months) before the trial to ensure accurate and reliable baseline comparisons.</a:t>
            </a:r>
          </a:p>
          <a:p>
            <a:pPr marL="0" indent="0">
              <a:buNone/>
            </a:pPr>
            <a:endParaRPr lang="en-GB" dirty="0"/>
          </a:p>
        </p:txBody>
      </p:sp>
    </p:spTree>
    <p:extLst>
      <p:ext uri="{BB962C8B-B14F-4D97-AF65-F5344CB8AC3E}">
        <p14:creationId xmlns:p14="http://schemas.microsoft.com/office/powerpoint/2010/main" val="752428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5EAD6-73F9-68D4-5253-38354804231F}"/>
              </a:ext>
            </a:extLst>
          </p:cNvPr>
          <p:cNvSpPr>
            <a:spLocks noGrp="1"/>
          </p:cNvSpPr>
          <p:nvPr>
            <p:ph type="title"/>
          </p:nvPr>
        </p:nvSpPr>
        <p:spPr>
          <a:xfrm>
            <a:off x="575310" y="278129"/>
            <a:ext cx="5063490" cy="1927743"/>
          </a:xfrm>
        </p:spPr>
        <p:txBody>
          <a:bodyPr anchor="b">
            <a:normAutofit/>
          </a:bodyPr>
          <a:lstStyle/>
          <a:p>
            <a:r>
              <a:rPr lang="en-GB" dirty="0"/>
              <a:t>A/B Testing Store Matching Method</a:t>
            </a:r>
          </a:p>
        </p:txBody>
      </p:sp>
      <p:sp>
        <p:nvSpPr>
          <p:cNvPr id="4" name="Content Placeholder 3">
            <a:extLst>
              <a:ext uri="{FF2B5EF4-FFF2-40B4-BE49-F238E27FC236}">
                <a16:creationId xmlns:a16="http://schemas.microsoft.com/office/drawing/2014/main" id="{3ED84067-C582-FC9D-242E-E58211F0124E}"/>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6725" y="3272545"/>
            <a:ext cx="5770205" cy="2994415"/>
          </a:xfrm>
        </p:spPr>
        <p:txBody>
          <a:bodyPr>
            <a:noAutofit/>
          </a:bodyPr>
          <a:lstStyle/>
          <a:p>
            <a:pPr marL="285750" indent="-285750">
              <a:spcBef>
                <a:spcPts val="2500"/>
              </a:spcBef>
              <a:buFont typeface="Arial" panose="020B0604020202020204" pitchFamily="34" charset="0"/>
              <a:buChar char="•"/>
            </a:pPr>
            <a:r>
              <a:rPr lang="en-GB" sz="1800" b="1" dirty="0"/>
              <a:t>Compared each trial store against all eligible stores using pre-trial metrics</a:t>
            </a:r>
            <a:r>
              <a:rPr lang="en-GB" sz="1800" dirty="0"/>
              <a:t>, including </a:t>
            </a:r>
            <a:r>
              <a:rPr lang="en-GB" sz="1800" i="1" dirty="0"/>
              <a:t>total sales, number of customers, transactions per customer, chips per transaction, and average price per unit</a:t>
            </a:r>
            <a:r>
              <a:rPr lang="en-GB" sz="1800" dirty="0"/>
              <a:t>.</a:t>
            </a:r>
          </a:p>
          <a:p>
            <a:pPr marL="285750" indent="-285750">
              <a:spcBef>
                <a:spcPts val="2500"/>
              </a:spcBef>
              <a:buFont typeface="Arial" panose="020B0604020202020204" pitchFamily="34" charset="0"/>
              <a:buChar char="•"/>
            </a:pPr>
            <a:r>
              <a:rPr lang="en-GB" sz="1800" b="1" dirty="0"/>
              <a:t>Assessed trend similarity using Pearson correlation</a:t>
            </a:r>
            <a:r>
              <a:rPr lang="en-GB" sz="1800" dirty="0"/>
              <a:t>, ensuring control stores exhibited similar historical patterns in </a:t>
            </a:r>
            <a:r>
              <a:rPr lang="en-GB" sz="1800" i="1" dirty="0"/>
              <a:t>sales and customer </a:t>
            </a:r>
            <a:r>
              <a:rPr lang="en-GB" sz="1800" i="1" dirty="0" err="1"/>
              <a:t>behavior</a:t>
            </a:r>
            <a:r>
              <a:rPr lang="en-GB" sz="1800" dirty="0"/>
              <a:t> to the trial stores.</a:t>
            </a:r>
          </a:p>
          <a:p>
            <a:pPr marL="285750" indent="-285750">
              <a:spcBef>
                <a:spcPts val="2500"/>
              </a:spcBef>
              <a:buFont typeface="Arial" panose="020B0604020202020204" pitchFamily="34" charset="0"/>
              <a:buChar char="•"/>
            </a:pPr>
            <a:r>
              <a:rPr lang="en-GB" sz="1800" b="1" dirty="0"/>
              <a:t>Measured similarity in scale using magnitude distance</a:t>
            </a:r>
            <a:r>
              <a:rPr lang="en-GB" sz="1800" dirty="0"/>
              <a:t>, capturing absolute differences in </a:t>
            </a:r>
            <a:r>
              <a:rPr lang="en-GB" sz="1800" i="1" dirty="0"/>
              <a:t>monthly sales, customer counts, and purchasing intensity</a:t>
            </a:r>
            <a:r>
              <a:rPr lang="en-GB" sz="1800" dirty="0"/>
              <a:t>.</a:t>
            </a:r>
          </a:p>
        </p:txBody>
      </p:sp>
      <p:pic>
        <p:nvPicPr>
          <p:cNvPr id="8" name="Content Placeholder 4" descr="People Search">
            <a:extLst>
              <a:ext uri="{FF2B5EF4-FFF2-40B4-BE49-F238E27FC236}">
                <a16:creationId xmlns:a16="http://schemas.microsoft.com/office/drawing/2014/main" id="{B9F18BCA-02E5-AD8B-E63D-67576184373C}"/>
              </a:ext>
            </a:extLst>
          </p:cNvPr>
          <p:cNvPicPr>
            <a:picLocks noGrp="1" noChangeAspect="1"/>
          </p:cNvPicPr>
          <p:nvPr>
            <p:ph type="pic" sz="quarter" idx="15"/>
          </p:nvPr>
        </p:nvPicPr>
        <p:blipFill>
          <a:blip r:embed="rId3"/>
          <a:srcRect l="20225" r="20225"/>
          <a:stretch/>
        </p:blipFill>
        <p:spPr>
          <a:xfrm>
            <a:off x="6843859" y="278129"/>
            <a:ext cx="5370365" cy="2994416"/>
          </a:xfrm>
          <a:noFill/>
        </p:spPr>
      </p:pic>
      <p:sp>
        <p:nvSpPr>
          <p:cNvPr id="18" name="Table Placeholder 4">
            <a:extLst>
              <a:ext uri="{FF2B5EF4-FFF2-40B4-BE49-F238E27FC236}">
                <a16:creationId xmlns:a16="http://schemas.microsoft.com/office/drawing/2014/main" id="{D164172D-75D7-0BAE-07A7-C5767093560B}"/>
              </a:ext>
            </a:extLst>
          </p:cNvPr>
          <p:cNvSpPr txBox="1">
            <a:spLocks/>
          </p:cNvSpPr>
          <p:nvPr/>
        </p:nvSpPr>
        <p:spPr>
          <a:xfrm>
            <a:off x="7233285" y="3695306"/>
            <a:ext cx="4491990" cy="2893013"/>
          </a:xfrm>
          <a:prstGeom prst="rect">
            <a:avLst/>
          </a:prstGeom>
        </p:spPr>
        <p:txBody>
          <a:bodyPr/>
          <a:lst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GB" sz="1800" b="1" dirty="0"/>
              <a:t>Standardized magnitude differences across months</a:t>
            </a:r>
            <a:r>
              <a:rPr lang="en-GB" sz="1800" dirty="0"/>
              <a:t>, reducing the impact of seasonality and extreme values on </a:t>
            </a:r>
            <a:r>
              <a:rPr lang="en-GB" sz="1800" i="1" dirty="0"/>
              <a:t>sales and transaction metrics</a:t>
            </a:r>
            <a:r>
              <a:rPr lang="en-GB" sz="1800" dirty="0"/>
              <a:t>.</a:t>
            </a:r>
          </a:p>
          <a:p>
            <a:pPr marL="285750" indent="-285750"/>
            <a:r>
              <a:rPr lang="en-GB" sz="1800" b="1" dirty="0"/>
              <a:t>Selected control stores with high correlation and low magnitude distance</a:t>
            </a:r>
            <a:r>
              <a:rPr lang="en-GB" sz="1800" dirty="0"/>
              <a:t>, ensuring alignment in both </a:t>
            </a:r>
            <a:r>
              <a:rPr lang="en-GB" sz="1800" i="1" dirty="0"/>
              <a:t>performance trends and business scale</a:t>
            </a:r>
            <a:r>
              <a:rPr lang="en-GB" sz="1800" dirty="0"/>
              <a:t> prior to the trial.</a:t>
            </a:r>
          </a:p>
        </p:txBody>
      </p:sp>
    </p:spTree>
    <p:extLst>
      <p:ext uri="{BB962C8B-B14F-4D97-AF65-F5344CB8AC3E}">
        <p14:creationId xmlns:p14="http://schemas.microsoft.com/office/powerpoint/2010/main" val="269587604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564C2-750C-7EA1-23FE-E4B5CDF84B4C}"/>
              </a:ext>
            </a:extLst>
          </p:cNvPr>
          <p:cNvSpPr>
            <a:spLocks noGrp="1"/>
          </p:cNvSpPr>
          <p:nvPr>
            <p:ph type="title"/>
          </p:nvPr>
        </p:nvSpPr>
        <p:spPr>
          <a:xfrm>
            <a:off x="2356701" y="5005892"/>
            <a:ext cx="9561924" cy="1267462"/>
          </a:xfrm>
        </p:spPr>
        <p:txBody>
          <a:bodyPr anchor="b">
            <a:normAutofit/>
          </a:bodyPr>
          <a:lstStyle/>
          <a:p>
            <a:r>
              <a:rPr lang="en-GB" dirty="0"/>
              <a:t> Sales Uplift Between Trial and Control Stores</a:t>
            </a:r>
          </a:p>
        </p:txBody>
      </p:sp>
      <p:sp>
        <p:nvSpPr>
          <p:cNvPr id="30" name="Content Placeholder 3">
            <a:extLst>
              <a:ext uri="{FF2B5EF4-FFF2-40B4-BE49-F238E27FC236}">
                <a16:creationId xmlns:a16="http://schemas.microsoft.com/office/drawing/2014/main" id="{D1EEAA5D-0F5D-9ECD-63C8-C23B61CF027C}"/>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013" y="386500"/>
            <a:ext cx="5770205" cy="4383464"/>
          </a:xfrm>
          <a:prstGeom prst="rect">
            <a:avLst/>
          </a:prstGeom>
        </p:spPr>
        <p:txBody>
          <a:bodyPr>
            <a:noAutofit/>
          </a:bodyPr>
          <a:lst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spcBef>
                <a:spcPts val="2500"/>
              </a:spcBef>
            </a:pPr>
            <a:r>
              <a:rPr lang="en-GB" sz="1800" dirty="0"/>
              <a:t>The trial stores outperformed the control stores throughout the whole period. </a:t>
            </a:r>
          </a:p>
          <a:p>
            <a:pPr marL="285750" indent="-285750">
              <a:spcBef>
                <a:spcPts val="2500"/>
              </a:spcBef>
            </a:pPr>
            <a:r>
              <a:rPr lang="en-GB" sz="1800" dirty="0"/>
              <a:t>There was a </a:t>
            </a:r>
            <a:r>
              <a:rPr lang="en-GB" sz="1800" b="1" dirty="0"/>
              <a:t>4%  sales increase in February, 25% increase in March, and 13% in April.</a:t>
            </a:r>
          </a:p>
          <a:p>
            <a:pPr marL="285750" indent="-285750">
              <a:spcBef>
                <a:spcPts val="2500"/>
              </a:spcBef>
            </a:pPr>
            <a:r>
              <a:rPr lang="en-GB" sz="1800" b="1" dirty="0"/>
              <a:t>March</a:t>
            </a:r>
            <a:r>
              <a:rPr lang="en-GB" sz="1800" dirty="0"/>
              <a:t> recorded the </a:t>
            </a:r>
            <a:r>
              <a:rPr lang="en-GB" sz="1800" b="1" dirty="0"/>
              <a:t>highest sales uplift of about $180</a:t>
            </a:r>
            <a:r>
              <a:rPr lang="en-GB" sz="1800" dirty="0"/>
              <a:t> increase between the trial and control store sales.</a:t>
            </a:r>
          </a:p>
          <a:p>
            <a:pPr marL="285750" indent="-285750">
              <a:spcBef>
                <a:spcPts val="2500"/>
              </a:spcBef>
            </a:pPr>
            <a:r>
              <a:rPr lang="en-GB" sz="1800" dirty="0"/>
              <a:t>Both the control and trial stores showed the same season trend until the initiative in February.</a:t>
            </a:r>
          </a:p>
          <a:p>
            <a:pPr marL="285750" indent="-285750">
              <a:spcBef>
                <a:spcPts val="2500"/>
              </a:spcBef>
            </a:pPr>
            <a:r>
              <a:rPr lang="en-GB" sz="1800" dirty="0"/>
              <a:t>These uplifts in  sales shows that the trial initiative or strategy worked.</a:t>
            </a:r>
          </a:p>
        </p:txBody>
      </p:sp>
      <p:pic>
        <p:nvPicPr>
          <p:cNvPr id="13" name="Content Placeholder 12">
            <a:extLst>
              <a:ext uri="{FF2B5EF4-FFF2-40B4-BE49-F238E27FC236}">
                <a16:creationId xmlns:a16="http://schemas.microsoft.com/office/drawing/2014/main" id="{D2439AC3-16F7-0A58-9588-4D1B726C8B24}"/>
              </a:ext>
            </a:extLst>
          </p:cNvPr>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391782" y="514350"/>
            <a:ext cx="5485143" cy="3457576"/>
          </a:xfrm>
          <a:prstGeom prst="rect">
            <a:avLst/>
          </a:prstGeom>
        </p:spPr>
      </p:pic>
      <p:sp>
        <p:nvSpPr>
          <p:cNvPr id="14" name="Oval 13">
            <a:extLst>
              <a:ext uri="{FF2B5EF4-FFF2-40B4-BE49-F238E27FC236}">
                <a16:creationId xmlns:a16="http://schemas.microsoft.com/office/drawing/2014/main" id="{89CB97CC-09A5-8CBC-E2ED-AE1CF6D5B475}"/>
              </a:ext>
            </a:extLst>
          </p:cNvPr>
          <p:cNvSpPr/>
          <p:nvPr/>
        </p:nvSpPr>
        <p:spPr>
          <a:xfrm>
            <a:off x="3767137" y="1981199"/>
            <a:ext cx="257175" cy="257175"/>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BB248F76-E708-56D4-DE66-171E49F5B3EC}"/>
              </a:ext>
            </a:extLst>
          </p:cNvPr>
          <p:cNvSpPr/>
          <p:nvPr/>
        </p:nvSpPr>
        <p:spPr>
          <a:xfrm>
            <a:off x="4138367" y="1093509"/>
            <a:ext cx="226244" cy="22624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E4BD942D-D7D4-0283-FDB5-EF1385E7EAA4}"/>
              </a:ext>
            </a:extLst>
          </p:cNvPr>
          <p:cNvSpPr/>
          <p:nvPr/>
        </p:nvSpPr>
        <p:spPr>
          <a:xfrm>
            <a:off x="4590854" y="1981199"/>
            <a:ext cx="257175" cy="257175"/>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3981198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3BB2-E794-65F3-DE40-6D1745C65F3C}"/>
              </a:ext>
            </a:extLst>
          </p:cNvPr>
          <p:cNvSpPr>
            <a:spLocks noGrp="1"/>
          </p:cNvSpPr>
          <p:nvPr>
            <p:ph type="title"/>
          </p:nvPr>
        </p:nvSpPr>
        <p:spPr>
          <a:xfrm>
            <a:off x="148557" y="5433467"/>
            <a:ext cx="11861191" cy="609009"/>
          </a:xfrm>
        </p:spPr>
        <p:txBody>
          <a:bodyPr/>
          <a:lstStyle/>
          <a:p>
            <a:r>
              <a:rPr lang="en-GB" dirty="0"/>
              <a:t>Revenue Lift Between Trial and Control Stores</a:t>
            </a:r>
          </a:p>
        </p:txBody>
      </p:sp>
      <p:pic>
        <p:nvPicPr>
          <p:cNvPr id="8" name="Content Placeholder 7">
            <a:extLst>
              <a:ext uri="{FF2B5EF4-FFF2-40B4-BE49-F238E27FC236}">
                <a16:creationId xmlns:a16="http://schemas.microsoft.com/office/drawing/2014/main" id="{B6B24F33-96E6-9658-A585-38E134EA9696}"/>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6570931" y="495282"/>
            <a:ext cx="5359389" cy="2350618"/>
          </a:xfrm>
          <a:prstGeom prst="rect">
            <a:avLst/>
          </a:prstGeom>
        </p:spPr>
      </p:pic>
      <p:pic>
        <p:nvPicPr>
          <p:cNvPr id="6" name="Content Placeholder 5">
            <a:extLst>
              <a:ext uri="{FF2B5EF4-FFF2-40B4-BE49-F238E27FC236}">
                <a16:creationId xmlns:a16="http://schemas.microsoft.com/office/drawing/2014/main" id="{0572C4B3-C7B1-8742-8B79-B97B2AA4CAA3}"/>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48557" y="2566041"/>
            <a:ext cx="6048006" cy="2468596"/>
          </a:xfrm>
          <a:prstGeom prst="rect">
            <a:avLst/>
          </a:prstGeom>
        </p:spPr>
      </p:pic>
      <p:pic>
        <p:nvPicPr>
          <p:cNvPr id="10" name="Picture 9">
            <a:extLst>
              <a:ext uri="{FF2B5EF4-FFF2-40B4-BE49-F238E27FC236}">
                <a16:creationId xmlns:a16="http://schemas.microsoft.com/office/drawing/2014/main" id="{456FDF0D-F0F4-0648-BBDB-90BC4BDE2B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6563" y="3028415"/>
            <a:ext cx="5611219" cy="2278876"/>
          </a:xfrm>
          <a:prstGeom prst="rect">
            <a:avLst/>
          </a:prstGeom>
        </p:spPr>
      </p:pic>
      <p:graphicFrame>
        <p:nvGraphicFramePr>
          <p:cNvPr id="17" name="Table 16">
            <a:extLst>
              <a:ext uri="{FF2B5EF4-FFF2-40B4-BE49-F238E27FC236}">
                <a16:creationId xmlns:a16="http://schemas.microsoft.com/office/drawing/2014/main" id="{A2EEE230-BE29-7E0C-7B6B-CD77C3018CB8}"/>
              </a:ext>
            </a:extLst>
          </p:cNvPr>
          <p:cNvGraphicFramePr>
            <a:graphicFrameLocks noGrp="1"/>
          </p:cNvGraphicFramePr>
          <p:nvPr>
            <p:extLst>
              <p:ext uri="{D42A27DB-BD31-4B8C-83A1-F6EECF244321}">
                <p14:modId xmlns:p14="http://schemas.microsoft.com/office/powerpoint/2010/main" val="4114640055"/>
              </p:ext>
            </p:extLst>
          </p:nvPr>
        </p:nvGraphicFramePr>
        <p:xfrm>
          <a:off x="261680" y="495282"/>
          <a:ext cx="5611220" cy="1483360"/>
        </p:xfrm>
        <a:graphic>
          <a:graphicData uri="http://schemas.openxmlformats.org/drawingml/2006/table">
            <a:tbl>
              <a:tblPr firstRow="1" bandRow="1">
                <a:tableStyleId>{8A107856-5554-42FB-B03E-39F5DBC370BA}</a:tableStyleId>
              </a:tblPr>
              <a:tblGrid>
                <a:gridCol w="2805610">
                  <a:extLst>
                    <a:ext uri="{9D8B030D-6E8A-4147-A177-3AD203B41FA5}">
                      <a16:colId xmlns:a16="http://schemas.microsoft.com/office/drawing/2014/main" val="3347027441"/>
                    </a:ext>
                  </a:extLst>
                </a:gridCol>
                <a:gridCol w="2805610">
                  <a:extLst>
                    <a:ext uri="{9D8B030D-6E8A-4147-A177-3AD203B41FA5}">
                      <a16:colId xmlns:a16="http://schemas.microsoft.com/office/drawing/2014/main" val="2562498225"/>
                    </a:ext>
                  </a:extLst>
                </a:gridCol>
              </a:tblGrid>
              <a:tr h="370840">
                <a:tc>
                  <a:txBody>
                    <a:bodyPr/>
                    <a:lstStyle/>
                    <a:p>
                      <a:r>
                        <a:rPr lang="en-GB" dirty="0"/>
                        <a:t>Trial Stores</a:t>
                      </a:r>
                    </a:p>
                  </a:txBody>
                  <a:tcPr/>
                </a:tc>
                <a:tc>
                  <a:txBody>
                    <a:bodyPr/>
                    <a:lstStyle/>
                    <a:p>
                      <a:r>
                        <a:rPr lang="en-GB" dirty="0"/>
                        <a:t>Control Stores</a:t>
                      </a:r>
                    </a:p>
                  </a:txBody>
                  <a:tcPr/>
                </a:tc>
                <a:extLst>
                  <a:ext uri="{0D108BD9-81ED-4DB2-BD59-A6C34878D82A}">
                    <a16:rowId xmlns:a16="http://schemas.microsoft.com/office/drawing/2014/main" val="1324267676"/>
                  </a:ext>
                </a:extLst>
              </a:tr>
              <a:tr h="370840">
                <a:tc>
                  <a:txBody>
                    <a:bodyPr/>
                    <a:lstStyle/>
                    <a:p>
                      <a:r>
                        <a:rPr lang="en-GB" dirty="0"/>
                        <a:t>77</a:t>
                      </a:r>
                    </a:p>
                  </a:txBody>
                  <a:tcPr/>
                </a:tc>
                <a:tc>
                  <a:txBody>
                    <a:bodyPr/>
                    <a:lstStyle/>
                    <a:p>
                      <a:r>
                        <a:rPr lang="en-GB" dirty="0"/>
                        <a:t>233</a:t>
                      </a:r>
                    </a:p>
                  </a:txBody>
                  <a:tcPr/>
                </a:tc>
                <a:extLst>
                  <a:ext uri="{0D108BD9-81ED-4DB2-BD59-A6C34878D82A}">
                    <a16:rowId xmlns:a16="http://schemas.microsoft.com/office/drawing/2014/main" val="3737864548"/>
                  </a:ext>
                </a:extLst>
              </a:tr>
              <a:tr h="370840">
                <a:tc>
                  <a:txBody>
                    <a:bodyPr/>
                    <a:lstStyle/>
                    <a:p>
                      <a:r>
                        <a:rPr lang="en-GB" dirty="0"/>
                        <a:t>86</a:t>
                      </a:r>
                    </a:p>
                  </a:txBody>
                  <a:tcPr/>
                </a:tc>
                <a:tc>
                  <a:txBody>
                    <a:bodyPr/>
                    <a:lstStyle/>
                    <a:p>
                      <a:r>
                        <a:rPr lang="en-GB" dirty="0"/>
                        <a:t>155</a:t>
                      </a:r>
                    </a:p>
                  </a:txBody>
                  <a:tcPr/>
                </a:tc>
                <a:extLst>
                  <a:ext uri="{0D108BD9-81ED-4DB2-BD59-A6C34878D82A}">
                    <a16:rowId xmlns:a16="http://schemas.microsoft.com/office/drawing/2014/main" val="189724137"/>
                  </a:ext>
                </a:extLst>
              </a:tr>
              <a:tr h="370840">
                <a:tc>
                  <a:txBody>
                    <a:bodyPr/>
                    <a:lstStyle/>
                    <a:p>
                      <a:r>
                        <a:rPr lang="en-GB" dirty="0"/>
                        <a:t>88</a:t>
                      </a:r>
                    </a:p>
                  </a:txBody>
                  <a:tcPr/>
                </a:tc>
                <a:tc>
                  <a:txBody>
                    <a:bodyPr/>
                    <a:lstStyle/>
                    <a:p>
                      <a:r>
                        <a:rPr lang="en-GB" dirty="0"/>
                        <a:t>237</a:t>
                      </a:r>
                    </a:p>
                  </a:txBody>
                  <a:tcPr/>
                </a:tc>
                <a:extLst>
                  <a:ext uri="{0D108BD9-81ED-4DB2-BD59-A6C34878D82A}">
                    <a16:rowId xmlns:a16="http://schemas.microsoft.com/office/drawing/2014/main" val="2950499246"/>
                  </a:ext>
                </a:extLst>
              </a:tr>
            </a:tbl>
          </a:graphicData>
        </a:graphic>
      </p:graphicFrame>
    </p:spTree>
    <p:extLst>
      <p:ext uri="{BB962C8B-B14F-4D97-AF65-F5344CB8AC3E}">
        <p14:creationId xmlns:p14="http://schemas.microsoft.com/office/powerpoint/2010/main" val="2869630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A214-9FF0-9D0B-9367-158C7FCADB37}"/>
              </a:ext>
            </a:extLst>
          </p:cNvPr>
          <p:cNvSpPr>
            <a:spLocks noGrp="1"/>
          </p:cNvSpPr>
          <p:nvPr>
            <p:ph type="title"/>
          </p:nvPr>
        </p:nvSpPr>
        <p:spPr>
          <a:xfrm>
            <a:off x="594360" y="198408"/>
            <a:ext cx="10972800" cy="1574317"/>
          </a:xfrm>
        </p:spPr>
        <p:txBody>
          <a:bodyPr anchor="b">
            <a:normAutofit/>
          </a:bodyPr>
          <a:lstStyle/>
          <a:p>
            <a:r>
              <a:rPr lang="en-GB" dirty="0"/>
              <a:t>Recommendations</a:t>
            </a:r>
          </a:p>
        </p:txBody>
      </p:sp>
      <p:sp>
        <p:nvSpPr>
          <p:cNvPr id="4" name="Content Placeholder 3">
            <a:extLst>
              <a:ext uri="{FF2B5EF4-FFF2-40B4-BE49-F238E27FC236}">
                <a16:creationId xmlns:a16="http://schemas.microsoft.com/office/drawing/2014/main" id="{96B6D17A-DF2D-3B5F-DD33-0AAECDCA03A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69550" y="1602557"/>
            <a:ext cx="3947160" cy="4313220"/>
          </a:xfrm>
        </p:spPr>
        <p:txBody>
          <a:bodyPr>
            <a:normAutofit fontScale="25000" lnSpcReduction="20000"/>
          </a:bodyPr>
          <a:lstStyle/>
          <a:p>
            <a:pPr marL="0" indent="0">
              <a:buNone/>
            </a:pPr>
            <a:r>
              <a:rPr lang="en-GB" sz="6400" b="1" dirty="0"/>
              <a:t>Convert One-Time Buyers into Repeat Customers</a:t>
            </a:r>
            <a:endParaRPr lang="en-GB" sz="6400" dirty="0"/>
          </a:p>
          <a:p>
            <a:r>
              <a:rPr lang="en-GB" sz="6400" dirty="0"/>
              <a:t>Identify </a:t>
            </a:r>
            <a:r>
              <a:rPr lang="en-GB" sz="6400" b="1" dirty="0"/>
              <a:t>recent but low-frequency customers</a:t>
            </a:r>
            <a:r>
              <a:rPr lang="en-GB" sz="6400" dirty="0"/>
              <a:t> (New and Promising segments) and deploy onboarding incentives such as second-purchase discounts.</a:t>
            </a:r>
          </a:p>
          <a:p>
            <a:r>
              <a:rPr lang="en-GB" sz="6400" dirty="0"/>
              <a:t>Track repeat purchase uplift as a key KPI to improve customer lifetime value.</a:t>
            </a:r>
          </a:p>
          <a:p>
            <a:pPr marL="0" indent="0">
              <a:buNone/>
            </a:pPr>
            <a:r>
              <a:rPr lang="en-GB" sz="6400" b="1" dirty="0"/>
              <a:t>Institutionalize A/B Testing as a Decision Framework</a:t>
            </a:r>
            <a:endParaRPr lang="en-GB" sz="6400" dirty="0"/>
          </a:p>
          <a:p>
            <a:r>
              <a:rPr lang="en-GB" sz="6400" dirty="0"/>
              <a:t>Continue using matched control stores, pre-trial validation, and statistical testing to evaluate all major pricing, promotion, and layout changes.</a:t>
            </a:r>
          </a:p>
          <a:p>
            <a:r>
              <a:rPr lang="en-GB" sz="6400" dirty="0"/>
              <a:t>Focus decision-making on </a:t>
            </a:r>
            <a:r>
              <a:rPr lang="en-GB" sz="6400" b="1" dirty="0"/>
              <a:t>measurable incremental uplift</a:t>
            </a:r>
            <a:r>
              <a:rPr lang="en-GB" sz="6400" dirty="0"/>
              <a:t>, not raw sales growth, to ensure causality and ROI.</a:t>
            </a:r>
          </a:p>
          <a:p>
            <a:pPr marL="0" indent="0">
              <a:buNone/>
            </a:pPr>
            <a:endParaRPr lang="en-GB" sz="7200" dirty="0"/>
          </a:p>
          <a:p>
            <a:pPr marL="0" indent="0">
              <a:spcBef>
                <a:spcPts val="2500"/>
              </a:spcBef>
              <a:buFont typeface="Arial" panose="020B0604020202020204" pitchFamily="34" charset="0"/>
              <a:buNone/>
            </a:pPr>
            <a:endParaRPr lang="en-GB" sz="1300" b="1" dirty="0"/>
          </a:p>
          <a:p>
            <a:pPr marL="0" lvl="1" indent="0">
              <a:buFont typeface="Arial" panose="020B0604020202020204" pitchFamily="34" charset="0"/>
              <a:buNone/>
            </a:pPr>
            <a:r>
              <a:rPr lang="en-GB" sz="1300" dirty="0"/>
              <a:t>.</a:t>
            </a:r>
          </a:p>
        </p:txBody>
      </p:sp>
      <p:sp>
        <p:nvSpPr>
          <p:cNvPr id="6" name="Content Placeholder 5">
            <a:extLst>
              <a:ext uri="{FF2B5EF4-FFF2-40B4-BE49-F238E27FC236}">
                <a16:creationId xmlns:a16="http://schemas.microsoft.com/office/drawing/2014/main" id="{6984CC63-28FC-521F-A735-2C98F3BDDD16}"/>
              </a:ext>
            </a:extLst>
          </p:cNvPr>
          <p:cNvSpPr>
            <a:spLocks noGrp="1"/>
          </p:cNvSpPr>
          <p:nvPr>
            <p:ph sz="quarter" idx="13"/>
          </p:nvPr>
        </p:nvSpPr>
        <p:spPr>
          <a:xfrm>
            <a:off x="595523" y="2422688"/>
            <a:ext cx="5746750" cy="4119513"/>
          </a:xfrm>
        </p:spPr>
        <p:txBody>
          <a:bodyPr>
            <a:normAutofit fontScale="25000" lnSpcReduction="20000"/>
          </a:bodyPr>
          <a:lstStyle/>
          <a:p>
            <a:r>
              <a:rPr lang="en-GB" sz="7200" b="1" dirty="0"/>
              <a:t>Optimize Product Pricing and Bundling in High-Value Stores</a:t>
            </a:r>
            <a:endParaRPr lang="en-GB" sz="7200" dirty="0"/>
          </a:p>
          <a:p>
            <a:pPr marL="285750" indent="-285750">
              <a:buFont typeface="Arial" panose="020B0604020202020204" pitchFamily="34" charset="0"/>
              <a:buChar char="•"/>
            </a:pPr>
            <a:r>
              <a:rPr lang="en-GB" sz="7200" dirty="0"/>
              <a:t>Leverage insights from </a:t>
            </a:r>
            <a:r>
              <a:rPr lang="en-GB" sz="7200" b="1" dirty="0"/>
              <a:t>average price per unit and chips per transaction</a:t>
            </a:r>
            <a:r>
              <a:rPr lang="en-GB" sz="7200" dirty="0"/>
              <a:t> to test bundles (e.g. multi-pack discounts) in high-performing stores.</a:t>
            </a:r>
          </a:p>
          <a:p>
            <a:pPr marL="285750" indent="-285750">
              <a:buFont typeface="Arial" panose="020B0604020202020204" pitchFamily="34" charset="0"/>
              <a:buChar char="•"/>
            </a:pPr>
            <a:r>
              <a:rPr lang="en-GB" sz="7200" dirty="0"/>
              <a:t>Focus on increasing </a:t>
            </a:r>
            <a:r>
              <a:rPr lang="en-GB" sz="7200" b="1" dirty="0"/>
              <a:t>basket size</a:t>
            </a:r>
            <a:r>
              <a:rPr lang="en-GB" sz="7200" dirty="0"/>
              <a:t> rather than aggressive price cuts to protect margins.</a:t>
            </a:r>
          </a:p>
          <a:p>
            <a:r>
              <a:rPr lang="en-GB" sz="7200" b="1" dirty="0"/>
              <a:t>Activate RFM-Based Targeted Promotions</a:t>
            </a:r>
            <a:endParaRPr lang="en-GB" sz="7200" dirty="0"/>
          </a:p>
          <a:p>
            <a:pPr marL="342900" indent="-342900">
              <a:buFont typeface="Arial" panose="020B0604020202020204" pitchFamily="34" charset="0"/>
              <a:buChar char="•"/>
            </a:pPr>
            <a:r>
              <a:rPr lang="en-GB" sz="7200" dirty="0"/>
              <a:t>Prioritize </a:t>
            </a:r>
            <a:r>
              <a:rPr lang="en-GB" sz="7200" b="1" dirty="0"/>
              <a:t>Champions and Potential Loyalists</a:t>
            </a:r>
            <a:r>
              <a:rPr lang="en-GB" sz="7200" dirty="0"/>
              <a:t> with loyalty rewards and personalized offers to protect and grow high-value revenue.</a:t>
            </a:r>
          </a:p>
          <a:p>
            <a:pPr marL="342900" indent="-342900">
              <a:buFont typeface="Arial" panose="020B0604020202020204" pitchFamily="34" charset="0"/>
              <a:buChar char="•"/>
            </a:pPr>
            <a:r>
              <a:rPr lang="en-GB" sz="7200" dirty="0"/>
              <a:t>Run reactivation campaigns for </a:t>
            </a:r>
            <a:r>
              <a:rPr lang="en-GB" sz="7200" b="1" dirty="0"/>
              <a:t>At-Risk and Hibernating</a:t>
            </a:r>
            <a:r>
              <a:rPr lang="en-GB" sz="7200" dirty="0"/>
              <a:t> customers using limited-time discounts and reminder messaging.</a:t>
            </a:r>
          </a:p>
          <a:p>
            <a:endParaRPr lang="en-GB" dirty="0"/>
          </a:p>
        </p:txBody>
      </p:sp>
    </p:spTree>
    <p:extLst>
      <p:ext uri="{BB962C8B-B14F-4D97-AF65-F5344CB8AC3E}">
        <p14:creationId xmlns:p14="http://schemas.microsoft.com/office/powerpoint/2010/main" val="186360863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
        <p:nvSpPr>
          <p:cNvPr id="3" name="Text Placeholder 2">
            <a:extLst>
              <a:ext uri="{FF2B5EF4-FFF2-40B4-BE49-F238E27FC236}">
                <a16:creationId xmlns:a16="http://schemas.microsoft.com/office/drawing/2014/main" id="{8BE734F0-2DDD-AF70-F13D-F9E4C1929411}"/>
              </a:ext>
            </a:extLst>
          </p:cNvPr>
          <p:cNvSpPr>
            <a:spLocks noGrp="1"/>
          </p:cNvSpPr>
          <p:nvPr>
            <p:ph type="body" sz="quarter" idx="11"/>
          </p:nvPr>
        </p:nvSpPr>
        <p:spPr>
          <a:xfrm>
            <a:off x="594360" y="4549552"/>
            <a:ext cx="5486400" cy="1645920"/>
          </a:xfrm>
        </p:spPr>
        <p:txBody>
          <a:bodyPr/>
          <a:lstStyle/>
          <a:p>
            <a:r>
              <a:rPr lang="en-US" dirty="0">
                <a:solidFill>
                  <a:schemeClr val="bg1"/>
                </a:solidFill>
              </a:rPr>
              <a:t>Cyril Obeng-Darko</a:t>
            </a:r>
          </a:p>
          <a:p>
            <a:r>
              <a:rPr lang="en-US" dirty="0">
                <a:solidFill>
                  <a:schemeClr val="bg1"/>
                </a:solidFill>
              </a:rPr>
              <a:t>+447389170658</a:t>
            </a:r>
          </a:p>
          <a:p>
            <a:r>
              <a:rPr lang="en-US" dirty="0">
                <a:solidFill>
                  <a:schemeClr val="bg1"/>
                </a:solidFill>
              </a:rPr>
              <a:t>cyrilobeng7@gmail.com</a:t>
            </a:r>
          </a:p>
          <a:p>
            <a:endParaRPr lang="en-US" dirty="0"/>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{921BBA1F-DA5F-4493-8F6F-DFD25920F85C}TFd3b75063-ff25-434d-b12c-efeaf07d16c3292f62b5_win32-75a75c970d8e</Template>
  <TotalTime>47300</TotalTime>
  <Words>1796</Words>
  <Application>Microsoft Office PowerPoint</Application>
  <PresentationFormat>Widescreen</PresentationFormat>
  <Paragraphs>133</Paragraphs>
  <Slides>16</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Franklin Gothic Book</vt:lpstr>
      <vt:lpstr>Franklin Gothic Demi</vt:lpstr>
      <vt:lpstr>Custom</vt:lpstr>
      <vt:lpstr>QUANTIUM RETAIL ANALYTICS</vt:lpstr>
      <vt:lpstr>Agenda</vt:lpstr>
      <vt:lpstr>Project scope &amp; data overview</vt:lpstr>
      <vt:lpstr>Sales and Performance Insights  Overall Financial Trend</vt:lpstr>
      <vt:lpstr>Customer Purchasing Behavior Overview</vt:lpstr>
      <vt:lpstr>Product Analysis</vt:lpstr>
      <vt:lpstr>Top Performing Stores – Sales Performance Overview  </vt:lpstr>
      <vt:lpstr>RFM Analysis</vt:lpstr>
      <vt:lpstr>RFM Customer Behavior Analysis</vt:lpstr>
      <vt:lpstr>RFM Bubble Charts</vt:lpstr>
      <vt:lpstr>A/B Testing Pre-setup </vt:lpstr>
      <vt:lpstr>A/B Testing Store Matching Method</vt:lpstr>
      <vt:lpstr> Sales Uplift Between Trial and Control Stores</vt:lpstr>
      <vt:lpstr>Revenue Lift Between Trial and Control Stores</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Cyril Obeng Darko</dc:creator>
  <cp:lastModifiedBy>Cyril Obeng Darko</cp:lastModifiedBy>
  <cp:revision>1</cp:revision>
  <dcterms:created xsi:type="dcterms:W3CDTF">2026-01-18T16:06:14Z</dcterms:created>
  <dcterms:modified xsi:type="dcterms:W3CDTF">2026-03-13T14:48:34Z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